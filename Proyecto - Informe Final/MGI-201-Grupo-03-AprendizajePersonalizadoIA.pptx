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Libre Baskerville" panose="02000000000000000000" pitchFamily="2" charset="0"/>
      <p:regular r:id="rId19"/>
    </p:embeddedFont>
    <p:embeddedFont>
      <p:font typeface="Open Sans" panose="020B0606030504020204" pitchFamily="34" charset="0"/>
      <p:regular r:id="rId20"/>
    </p:embeddedFont>
  </p:embeddedFontLst>
  <p:defaultTextStyle>
    <a:defPPr>
      <a:defRPr lang="es-H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5"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4313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hyperlink" Target="https://colab.research.google.com/drive/1QkFOsIv5vLHk6rEaHOFYRQ8lUcvB1Zzd?usp=sharing" TargetMode="External"/><Relationship Id="rId2" Type="http://schemas.openxmlformats.org/officeDocument/2006/relationships/hyperlink" Target="https://trello.com/b/9SxeMCa5/grupo-no-3-aprendizajepersonalizadoia"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327904"/>
            <a:ext cx="7556421" cy="4252674"/>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Análisis de Implementación de Tutor Adaptativo con IA para Jóvenes con TDA y Dificultades de Aprendizaje</a:t>
            </a:r>
            <a:endParaRPr lang="en-US" sz="4450" dirty="0"/>
          </a:p>
        </p:txBody>
      </p:sp>
      <p:sp>
        <p:nvSpPr>
          <p:cNvPr id="4" name="Text 1"/>
          <p:cNvSpPr/>
          <p:nvPr/>
        </p:nvSpPr>
        <p:spPr>
          <a:xfrm>
            <a:off x="793790" y="5920740"/>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Universidad Nacional Autónoma de Honduras</a:t>
            </a:r>
            <a:endParaRPr lang="en-US" sz="1750" dirty="0"/>
          </a:p>
        </p:txBody>
      </p:sp>
      <p:sp>
        <p:nvSpPr>
          <p:cNvPr id="5" name="Text 2"/>
          <p:cNvSpPr/>
          <p:nvPr/>
        </p:nvSpPr>
        <p:spPr>
          <a:xfrm>
            <a:off x="793790" y="6538793"/>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Maestría en Gestión Informática - Promoción IX</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03446"/>
            <a:ext cx="6994803"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Equipo de Investigación</a:t>
            </a:r>
            <a:endParaRPr lang="en-US" sz="4450" dirty="0"/>
          </a:p>
        </p:txBody>
      </p:sp>
      <p:pic>
        <p:nvPicPr>
          <p:cNvPr id="3" name="Image 0" descr="preencoded.png"/>
          <p:cNvPicPr>
            <a:picLocks noChangeAspect="1"/>
          </p:cNvPicPr>
          <p:nvPr/>
        </p:nvPicPr>
        <p:blipFill>
          <a:blip r:embed="rId3"/>
          <a:stretch>
            <a:fillRect/>
          </a:stretch>
        </p:blipFill>
        <p:spPr>
          <a:xfrm>
            <a:off x="793790" y="2375535"/>
            <a:ext cx="6407944" cy="121920"/>
          </a:xfrm>
          <a:prstGeom prst="rect">
            <a:avLst/>
          </a:prstGeom>
        </p:spPr>
      </p:pic>
      <p:pic>
        <p:nvPicPr>
          <p:cNvPr id="4" name="Image 1" descr="preencoded.png"/>
          <p:cNvPicPr>
            <a:picLocks noChangeAspect="1"/>
          </p:cNvPicPr>
          <p:nvPr/>
        </p:nvPicPr>
        <p:blipFill>
          <a:blip r:embed="rId4"/>
          <a:stretch>
            <a:fillRect/>
          </a:stretch>
        </p:blipFill>
        <p:spPr>
          <a:xfrm>
            <a:off x="3657540" y="2065853"/>
            <a:ext cx="680442" cy="680442"/>
          </a:xfrm>
          <a:prstGeom prst="rect">
            <a:avLst/>
          </a:prstGeom>
        </p:spPr>
      </p:pic>
      <p:sp>
        <p:nvSpPr>
          <p:cNvPr id="5" name="Text 1"/>
          <p:cNvSpPr/>
          <p:nvPr/>
        </p:nvSpPr>
        <p:spPr>
          <a:xfrm>
            <a:off x="3861614" y="2235994"/>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1</a:t>
            </a:r>
            <a:endParaRPr lang="en-US" sz="2100" dirty="0"/>
          </a:p>
        </p:txBody>
      </p:sp>
      <p:sp>
        <p:nvSpPr>
          <p:cNvPr id="6" name="Text 2"/>
          <p:cNvSpPr/>
          <p:nvPr/>
        </p:nvSpPr>
        <p:spPr>
          <a:xfrm>
            <a:off x="1051084" y="2972991"/>
            <a:ext cx="5446157"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Wendy Carolina Martínez Hernández</a:t>
            </a:r>
            <a:endParaRPr lang="en-US" sz="2200" dirty="0"/>
          </a:p>
        </p:txBody>
      </p:sp>
      <p:sp>
        <p:nvSpPr>
          <p:cNvPr id="7" name="Text 3"/>
          <p:cNvSpPr/>
          <p:nvPr/>
        </p:nvSpPr>
        <p:spPr>
          <a:xfrm>
            <a:off x="1051084" y="3463409"/>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MGI100528</a:t>
            </a:r>
            <a:endParaRPr lang="en-US" sz="1750" dirty="0"/>
          </a:p>
        </p:txBody>
      </p:sp>
      <p:sp>
        <p:nvSpPr>
          <p:cNvPr id="8" name="Text 4"/>
          <p:cNvSpPr/>
          <p:nvPr/>
        </p:nvSpPr>
        <p:spPr>
          <a:xfrm>
            <a:off x="1051084" y="3962400"/>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wcarolmh@gmail.com</a:t>
            </a:r>
            <a:endParaRPr lang="en-US" sz="1750" dirty="0"/>
          </a:p>
        </p:txBody>
      </p:sp>
      <p:pic>
        <p:nvPicPr>
          <p:cNvPr id="9" name="Image 2" descr="preencoded.png"/>
          <p:cNvPicPr>
            <a:picLocks noChangeAspect="1"/>
          </p:cNvPicPr>
          <p:nvPr/>
        </p:nvPicPr>
        <p:blipFill>
          <a:blip r:embed="rId3"/>
          <a:stretch>
            <a:fillRect/>
          </a:stretch>
        </p:blipFill>
        <p:spPr>
          <a:xfrm>
            <a:off x="7428548" y="2375535"/>
            <a:ext cx="6408063" cy="121920"/>
          </a:xfrm>
          <a:prstGeom prst="rect">
            <a:avLst/>
          </a:prstGeom>
        </p:spPr>
      </p:pic>
      <p:pic>
        <p:nvPicPr>
          <p:cNvPr id="10" name="Image 3" descr="preencoded.png"/>
          <p:cNvPicPr>
            <a:picLocks noChangeAspect="1"/>
          </p:cNvPicPr>
          <p:nvPr/>
        </p:nvPicPr>
        <p:blipFill>
          <a:blip r:embed="rId4"/>
          <a:stretch>
            <a:fillRect/>
          </a:stretch>
        </p:blipFill>
        <p:spPr>
          <a:xfrm>
            <a:off x="10292298" y="2065853"/>
            <a:ext cx="680442" cy="680442"/>
          </a:xfrm>
          <a:prstGeom prst="rect">
            <a:avLst/>
          </a:prstGeom>
        </p:spPr>
      </p:pic>
      <p:sp>
        <p:nvSpPr>
          <p:cNvPr id="11" name="Text 5"/>
          <p:cNvSpPr/>
          <p:nvPr/>
        </p:nvSpPr>
        <p:spPr>
          <a:xfrm>
            <a:off x="10496371" y="2235994"/>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2</a:t>
            </a:r>
            <a:endParaRPr lang="en-US" sz="2100" dirty="0"/>
          </a:p>
        </p:txBody>
      </p:sp>
      <p:sp>
        <p:nvSpPr>
          <p:cNvPr id="12" name="Text 6"/>
          <p:cNvSpPr/>
          <p:nvPr/>
        </p:nvSpPr>
        <p:spPr>
          <a:xfrm>
            <a:off x="7685842" y="2972991"/>
            <a:ext cx="4575096"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Karol Berenice Lara Hernández</a:t>
            </a:r>
            <a:endParaRPr lang="en-US" sz="2200" dirty="0"/>
          </a:p>
        </p:txBody>
      </p:sp>
      <p:sp>
        <p:nvSpPr>
          <p:cNvPr id="13" name="Text 7"/>
          <p:cNvSpPr/>
          <p:nvPr/>
        </p:nvSpPr>
        <p:spPr>
          <a:xfrm>
            <a:off x="7685842" y="3463409"/>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MGI100911</a:t>
            </a:r>
            <a:endParaRPr lang="en-US" sz="1750" dirty="0"/>
          </a:p>
        </p:txBody>
      </p:sp>
      <p:sp>
        <p:nvSpPr>
          <p:cNvPr id="14" name="Text 8"/>
          <p:cNvSpPr/>
          <p:nvPr/>
        </p:nvSpPr>
        <p:spPr>
          <a:xfrm>
            <a:off x="7685842" y="3962400"/>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karol.larahdz@gmail.com</a:t>
            </a:r>
            <a:endParaRPr lang="en-US" sz="1750" dirty="0"/>
          </a:p>
        </p:txBody>
      </p:sp>
      <p:pic>
        <p:nvPicPr>
          <p:cNvPr id="15" name="Image 4" descr="preencoded.png"/>
          <p:cNvPicPr>
            <a:picLocks noChangeAspect="1"/>
          </p:cNvPicPr>
          <p:nvPr/>
        </p:nvPicPr>
        <p:blipFill>
          <a:blip r:embed="rId3"/>
          <a:stretch>
            <a:fillRect/>
          </a:stretch>
        </p:blipFill>
        <p:spPr>
          <a:xfrm>
            <a:off x="793790" y="5119092"/>
            <a:ext cx="6407944" cy="121920"/>
          </a:xfrm>
          <a:prstGeom prst="rect">
            <a:avLst/>
          </a:prstGeom>
        </p:spPr>
      </p:pic>
      <p:pic>
        <p:nvPicPr>
          <p:cNvPr id="16" name="Image 5" descr="preencoded.png"/>
          <p:cNvPicPr>
            <a:picLocks noChangeAspect="1"/>
          </p:cNvPicPr>
          <p:nvPr/>
        </p:nvPicPr>
        <p:blipFill>
          <a:blip r:embed="rId4"/>
          <a:stretch>
            <a:fillRect/>
          </a:stretch>
        </p:blipFill>
        <p:spPr>
          <a:xfrm>
            <a:off x="3657540" y="4809411"/>
            <a:ext cx="680442" cy="680442"/>
          </a:xfrm>
          <a:prstGeom prst="rect">
            <a:avLst/>
          </a:prstGeom>
        </p:spPr>
      </p:pic>
      <p:sp>
        <p:nvSpPr>
          <p:cNvPr id="17" name="Text 9"/>
          <p:cNvSpPr/>
          <p:nvPr/>
        </p:nvSpPr>
        <p:spPr>
          <a:xfrm>
            <a:off x="3861614" y="4979551"/>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3</a:t>
            </a:r>
            <a:endParaRPr lang="en-US" sz="2100" dirty="0"/>
          </a:p>
        </p:txBody>
      </p:sp>
      <p:sp>
        <p:nvSpPr>
          <p:cNvPr id="18" name="Text 10"/>
          <p:cNvSpPr/>
          <p:nvPr/>
        </p:nvSpPr>
        <p:spPr>
          <a:xfrm>
            <a:off x="1051084" y="5716548"/>
            <a:ext cx="4482346"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Ariel Humberto Lutz Perdomo</a:t>
            </a:r>
            <a:endParaRPr lang="en-US" sz="2200" dirty="0"/>
          </a:p>
        </p:txBody>
      </p:sp>
      <p:sp>
        <p:nvSpPr>
          <p:cNvPr id="19" name="Text 11"/>
          <p:cNvSpPr/>
          <p:nvPr/>
        </p:nvSpPr>
        <p:spPr>
          <a:xfrm>
            <a:off x="1051084" y="6206966"/>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MGI100914</a:t>
            </a:r>
            <a:endParaRPr lang="en-US" sz="1750" dirty="0"/>
          </a:p>
        </p:txBody>
      </p:sp>
      <p:sp>
        <p:nvSpPr>
          <p:cNvPr id="20" name="Text 12"/>
          <p:cNvSpPr/>
          <p:nvPr/>
        </p:nvSpPr>
        <p:spPr>
          <a:xfrm>
            <a:off x="1051084" y="6705957"/>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ariellutz10@gmail.com</a:t>
            </a:r>
            <a:endParaRPr lang="en-US" sz="1750" dirty="0"/>
          </a:p>
        </p:txBody>
      </p:sp>
      <p:pic>
        <p:nvPicPr>
          <p:cNvPr id="21" name="Image 6" descr="preencoded.png"/>
          <p:cNvPicPr>
            <a:picLocks noChangeAspect="1"/>
          </p:cNvPicPr>
          <p:nvPr/>
        </p:nvPicPr>
        <p:blipFill>
          <a:blip r:embed="rId3"/>
          <a:stretch>
            <a:fillRect/>
          </a:stretch>
        </p:blipFill>
        <p:spPr>
          <a:xfrm>
            <a:off x="7428548" y="5119092"/>
            <a:ext cx="6408063" cy="121920"/>
          </a:xfrm>
          <a:prstGeom prst="rect">
            <a:avLst/>
          </a:prstGeom>
        </p:spPr>
      </p:pic>
      <p:pic>
        <p:nvPicPr>
          <p:cNvPr id="22" name="Image 7" descr="preencoded.png"/>
          <p:cNvPicPr>
            <a:picLocks noChangeAspect="1"/>
          </p:cNvPicPr>
          <p:nvPr/>
        </p:nvPicPr>
        <p:blipFill>
          <a:blip r:embed="rId4"/>
          <a:stretch>
            <a:fillRect/>
          </a:stretch>
        </p:blipFill>
        <p:spPr>
          <a:xfrm>
            <a:off x="10292298" y="4809411"/>
            <a:ext cx="680442" cy="680442"/>
          </a:xfrm>
          <a:prstGeom prst="rect">
            <a:avLst/>
          </a:prstGeom>
        </p:spPr>
      </p:pic>
      <p:sp>
        <p:nvSpPr>
          <p:cNvPr id="23" name="Text 13"/>
          <p:cNvSpPr/>
          <p:nvPr/>
        </p:nvSpPr>
        <p:spPr>
          <a:xfrm>
            <a:off x="10496371" y="4979551"/>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4</a:t>
            </a:r>
            <a:endParaRPr lang="en-US" sz="2100" dirty="0"/>
          </a:p>
        </p:txBody>
      </p:sp>
      <p:sp>
        <p:nvSpPr>
          <p:cNvPr id="24" name="Text 14"/>
          <p:cNvSpPr/>
          <p:nvPr/>
        </p:nvSpPr>
        <p:spPr>
          <a:xfrm>
            <a:off x="7685842" y="5716548"/>
            <a:ext cx="4690348"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Lester Bartolo Ordoñez Amador</a:t>
            </a:r>
            <a:endParaRPr lang="en-US" sz="2200" dirty="0"/>
          </a:p>
        </p:txBody>
      </p:sp>
      <p:sp>
        <p:nvSpPr>
          <p:cNvPr id="25" name="Text 15"/>
          <p:cNvSpPr/>
          <p:nvPr/>
        </p:nvSpPr>
        <p:spPr>
          <a:xfrm>
            <a:off x="7685842" y="6206966"/>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MGI100917</a:t>
            </a:r>
            <a:endParaRPr lang="en-US" sz="1750" dirty="0"/>
          </a:p>
        </p:txBody>
      </p:sp>
      <p:sp>
        <p:nvSpPr>
          <p:cNvPr id="26" name="Text 16"/>
          <p:cNvSpPr/>
          <p:nvPr/>
        </p:nvSpPr>
        <p:spPr>
          <a:xfrm>
            <a:off x="7685842" y="6705957"/>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lbartoamador@gmail.com</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1638" y="566976"/>
            <a:ext cx="6115050" cy="644366"/>
          </a:xfrm>
          <a:prstGeom prst="rect">
            <a:avLst/>
          </a:prstGeom>
          <a:noFill/>
          <a:ln/>
        </p:spPr>
        <p:txBody>
          <a:bodyPr wrap="none" lIns="0" tIns="0" rIns="0" bIns="0" rtlCol="0" anchor="t"/>
          <a:lstStyle/>
          <a:p>
            <a:pPr marL="0" indent="0" algn="l">
              <a:lnSpc>
                <a:spcPts val="5050"/>
              </a:lnSpc>
              <a:buNone/>
            </a:pPr>
            <a:r>
              <a:rPr lang="en-US" sz="4050" dirty="0">
                <a:solidFill>
                  <a:srgbClr val="403CCF"/>
                </a:solidFill>
                <a:latin typeface="Libre Baskerville" pitchFamily="34" charset="0"/>
                <a:ea typeface="Libre Baskerville" pitchFamily="34" charset="-122"/>
                <a:cs typeface="Libre Baskerville" pitchFamily="34" charset="-120"/>
              </a:rPr>
              <a:t>Contexto del Problema</a:t>
            </a:r>
            <a:endParaRPr lang="en-US" sz="4050" dirty="0"/>
          </a:p>
        </p:txBody>
      </p:sp>
      <p:sp>
        <p:nvSpPr>
          <p:cNvPr id="3" name="Text 1"/>
          <p:cNvSpPr/>
          <p:nvPr/>
        </p:nvSpPr>
        <p:spPr>
          <a:xfrm>
            <a:off x="721638" y="1706047"/>
            <a:ext cx="6342102" cy="1649611"/>
          </a:xfrm>
          <a:prstGeom prst="rect">
            <a:avLst/>
          </a:prstGeom>
          <a:noFill/>
          <a:ln/>
        </p:spPr>
        <p:txBody>
          <a:bodyPr wrap="squar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El sistema educativo actual enfrenta retos cada vez más complejos con el avance de la tecnología, mientras que las metodologías de enseñanza en Honduras permanecen estancadas en modelos tradicionales que no logran atender la diversidad cognitiva.</a:t>
            </a:r>
            <a:endParaRPr lang="en-US" sz="1600" dirty="0"/>
          </a:p>
        </p:txBody>
      </p:sp>
      <p:sp>
        <p:nvSpPr>
          <p:cNvPr id="4" name="Text 2"/>
          <p:cNvSpPr/>
          <p:nvPr/>
        </p:nvSpPr>
        <p:spPr>
          <a:xfrm>
            <a:off x="721638" y="3541157"/>
            <a:ext cx="6342102" cy="1319689"/>
          </a:xfrm>
          <a:prstGeom prst="rect">
            <a:avLst/>
          </a:prstGeom>
          <a:noFill/>
          <a:ln/>
        </p:spPr>
        <p:txBody>
          <a:bodyPr wrap="squar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Los estudiantes con Trastorno por Déficit de Atención (TDA) y problemas de aprendizaje requieren estrategias personalizadas, pero son los más afectados por metodologías arcaicas que en muchos escenarios ya son obsoletas.</a:t>
            </a:r>
            <a:endParaRPr lang="en-US" sz="1600" dirty="0"/>
          </a:p>
        </p:txBody>
      </p:sp>
      <p:pic>
        <p:nvPicPr>
          <p:cNvPr id="5" name="Image 0" descr="preencoded.png"/>
          <p:cNvPicPr>
            <a:picLocks noChangeAspect="1"/>
          </p:cNvPicPr>
          <p:nvPr/>
        </p:nvPicPr>
        <p:blipFill>
          <a:blip r:embed="rId3"/>
          <a:stretch>
            <a:fillRect/>
          </a:stretch>
        </p:blipFill>
        <p:spPr>
          <a:xfrm>
            <a:off x="7574280" y="1752481"/>
            <a:ext cx="6342102" cy="63421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95701"/>
            <a:ext cx="6308169"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Objetivo del Proyecto</a:t>
            </a:r>
            <a:endParaRPr lang="en-US" sz="4450" dirty="0"/>
          </a:p>
        </p:txBody>
      </p:sp>
      <p:sp>
        <p:nvSpPr>
          <p:cNvPr id="3" name="Shape 1"/>
          <p:cNvSpPr/>
          <p:nvPr/>
        </p:nvSpPr>
        <p:spPr>
          <a:xfrm>
            <a:off x="793790" y="2958108"/>
            <a:ext cx="4196358" cy="3475792"/>
          </a:xfrm>
          <a:prstGeom prst="roundRect">
            <a:avLst>
              <a:gd name="adj" fmla="val 979"/>
            </a:avLst>
          </a:prstGeom>
          <a:solidFill>
            <a:srgbClr val="EAE8F3"/>
          </a:solidFill>
          <a:ln/>
        </p:spPr>
      </p:sp>
      <p:sp>
        <p:nvSpPr>
          <p:cNvPr id="4" name="Text 2"/>
          <p:cNvSpPr/>
          <p:nvPr/>
        </p:nvSpPr>
        <p:spPr>
          <a:xfrm>
            <a:off x="1020604" y="3184922"/>
            <a:ext cx="3742730"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Desarrollar un tutor inteligente adaptativo</a:t>
            </a:r>
            <a:endParaRPr lang="en-US" sz="2200" dirty="0"/>
          </a:p>
        </p:txBody>
      </p:sp>
      <p:sp>
        <p:nvSpPr>
          <p:cNvPr id="5" name="Text 3"/>
          <p:cNvSpPr/>
          <p:nvPr/>
        </p:nvSpPr>
        <p:spPr>
          <a:xfrm>
            <a:off x="1020604" y="4029670"/>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Basado en Inteligencia Artificial, diseñado específicamente para alumnos de educación básica con TDA y limitaciones en las aulas de clases.</a:t>
            </a:r>
            <a:endParaRPr lang="en-US" sz="1750" dirty="0"/>
          </a:p>
        </p:txBody>
      </p:sp>
      <p:sp>
        <p:nvSpPr>
          <p:cNvPr id="6" name="Shape 4"/>
          <p:cNvSpPr/>
          <p:nvPr/>
        </p:nvSpPr>
        <p:spPr>
          <a:xfrm>
            <a:off x="5216962" y="2958108"/>
            <a:ext cx="4196358" cy="3475792"/>
          </a:xfrm>
          <a:prstGeom prst="roundRect">
            <a:avLst>
              <a:gd name="adj" fmla="val 979"/>
            </a:avLst>
          </a:prstGeom>
          <a:solidFill>
            <a:srgbClr val="EAE8F3"/>
          </a:solidFill>
          <a:ln/>
        </p:spPr>
      </p:sp>
      <p:sp>
        <p:nvSpPr>
          <p:cNvPr id="7" name="Text 5"/>
          <p:cNvSpPr/>
          <p:nvPr/>
        </p:nvSpPr>
        <p:spPr>
          <a:xfrm>
            <a:off x="5443776" y="3184922"/>
            <a:ext cx="3742730"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Transformar barreras en oportunidades</a:t>
            </a:r>
            <a:endParaRPr lang="en-US" sz="2200" dirty="0"/>
          </a:p>
        </p:txBody>
      </p:sp>
      <p:sp>
        <p:nvSpPr>
          <p:cNvPr id="8" name="Text 6"/>
          <p:cNvSpPr/>
          <p:nvPr/>
        </p:nvSpPr>
        <p:spPr>
          <a:xfrm>
            <a:off x="5443776" y="4029670"/>
            <a:ext cx="3742730" cy="217741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Más que un software, este proyecto representa un compromiso con la educación para que el TDA o dificultades de aprendizaje no sean barreras, sino oportunidades.</a:t>
            </a:r>
            <a:endParaRPr lang="en-US" sz="1750" dirty="0"/>
          </a:p>
        </p:txBody>
      </p:sp>
      <p:sp>
        <p:nvSpPr>
          <p:cNvPr id="9" name="Shape 7"/>
          <p:cNvSpPr/>
          <p:nvPr/>
        </p:nvSpPr>
        <p:spPr>
          <a:xfrm>
            <a:off x="9640133" y="2958108"/>
            <a:ext cx="4196358" cy="3475792"/>
          </a:xfrm>
          <a:prstGeom prst="roundRect">
            <a:avLst>
              <a:gd name="adj" fmla="val 979"/>
            </a:avLst>
          </a:prstGeom>
          <a:solidFill>
            <a:srgbClr val="EAE8F3"/>
          </a:solidFill>
          <a:ln/>
        </p:spPr>
      </p:sp>
      <p:sp>
        <p:nvSpPr>
          <p:cNvPr id="10" name="Text 8"/>
          <p:cNvSpPr/>
          <p:nvPr/>
        </p:nvSpPr>
        <p:spPr>
          <a:xfrm>
            <a:off x="9866948" y="3184922"/>
            <a:ext cx="3742730"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Rediseñar el sistema educativo</a:t>
            </a:r>
            <a:endParaRPr lang="en-US" sz="2200" dirty="0"/>
          </a:p>
        </p:txBody>
      </p:sp>
      <p:sp>
        <p:nvSpPr>
          <p:cNvPr id="11" name="Text 9"/>
          <p:cNvSpPr/>
          <p:nvPr/>
        </p:nvSpPr>
        <p:spPr>
          <a:xfrm>
            <a:off x="9866948" y="4029670"/>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No se trata de adaptar al estudiante al sistema, sino de rediseñar el sistema para que todos puedan adaptarse según sus capacidades y necesidades.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1923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Marco Teórico</a:t>
            </a:r>
            <a:endParaRPr lang="en-US" sz="4450" dirty="0"/>
          </a:p>
        </p:txBody>
      </p:sp>
      <p:pic>
        <p:nvPicPr>
          <p:cNvPr id="3" name="Image 0" descr="preencoded.png"/>
          <p:cNvPicPr>
            <a:picLocks noChangeAspect="1"/>
          </p:cNvPicPr>
          <p:nvPr/>
        </p:nvPicPr>
        <p:blipFill>
          <a:blip r:embed="rId3"/>
          <a:stretch>
            <a:fillRect/>
          </a:stretch>
        </p:blipFill>
        <p:spPr>
          <a:xfrm>
            <a:off x="793790" y="2681645"/>
            <a:ext cx="4347567" cy="907256"/>
          </a:xfrm>
          <a:prstGeom prst="rect">
            <a:avLst/>
          </a:prstGeom>
        </p:spPr>
      </p:pic>
      <p:sp>
        <p:nvSpPr>
          <p:cNvPr id="4" name="Text 1"/>
          <p:cNvSpPr/>
          <p:nvPr/>
        </p:nvSpPr>
        <p:spPr>
          <a:xfrm>
            <a:off x="1020604" y="38157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E-Learning</a:t>
            </a:r>
            <a:endParaRPr lang="en-US" sz="2200" dirty="0"/>
          </a:p>
        </p:txBody>
      </p:sp>
      <p:sp>
        <p:nvSpPr>
          <p:cNvPr id="5" name="Text 2"/>
          <p:cNvSpPr/>
          <p:nvPr/>
        </p:nvSpPr>
        <p:spPr>
          <a:xfrm>
            <a:off x="1020604" y="4306133"/>
            <a:ext cx="3893939" cy="217741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Proceso de educación a distancia con separación física entre tutor y estudiante, donde este último adquiere competencias mediante TIC e Internet con comunicación multidireccional.</a:t>
            </a:r>
            <a:endParaRPr lang="en-US" sz="1750" dirty="0"/>
          </a:p>
        </p:txBody>
      </p:sp>
      <p:pic>
        <p:nvPicPr>
          <p:cNvPr id="6" name="Image 1" descr="preencoded.png"/>
          <p:cNvPicPr>
            <a:picLocks noChangeAspect="1"/>
          </p:cNvPicPr>
          <p:nvPr/>
        </p:nvPicPr>
        <p:blipFill>
          <a:blip r:embed="rId4"/>
          <a:stretch>
            <a:fillRect/>
          </a:stretch>
        </p:blipFill>
        <p:spPr>
          <a:xfrm>
            <a:off x="5141357" y="2681645"/>
            <a:ext cx="4347567" cy="907256"/>
          </a:xfrm>
          <a:prstGeom prst="rect">
            <a:avLst/>
          </a:prstGeom>
        </p:spPr>
      </p:pic>
      <p:sp>
        <p:nvSpPr>
          <p:cNvPr id="7" name="Text 3"/>
          <p:cNvSpPr/>
          <p:nvPr/>
        </p:nvSpPr>
        <p:spPr>
          <a:xfrm>
            <a:off x="5368171" y="38157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TDAH</a:t>
            </a:r>
            <a:endParaRPr lang="en-US" sz="2200" dirty="0"/>
          </a:p>
        </p:txBody>
      </p:sp>
      <p:sp>
        <p:nvSpPr>
          <p:cNvPr id="8" name="Text 4"/>
          <p:cNvSpPr/>
          <p:nvPr/>
        </p:nvSpPr>
        <p:spPr>
          <a:xfrm>
            <a:off x="5368171" y="4306133"/>
            <a:ext cx="3893939"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Trastorno por Déficit de Atención que afecta la capacidad de concentración y aprendizaje en entornos educativos tradicionales.</a:t>
            </a:r>
            <a:endParaRPr lang="en-US" sz="1750" dirty="0"/>
          </a:p>
        </p:txBody>
      </p:sp>
      <p:pic>
        <p:nvPicPr>
          <p:cNvPr id="9" name="Image 2" descr="preencoded.png"/>
          <p:cNvPicPr>
            <a:picLocks noChangeAspect="1"/>
          </p:cNvPicPr>
          <p:nvPr/>
        </p:nvPicPr>
        <p:blipFill>
          <a:blip r:embed="rId5"/>
          <a:stretch>
            <a:fillRect/>
          </a:stretch>
        </p:blipFill>
        <p:spPr>
          <a:xfrm>
            <a:off x="9488924" y="2681645"/>
            <a:ext cx="4347567" cy="907256"/>
          </a:xfrm>
          <a:prstGeom prst="rect">
            <a:avLst/>
          </a:prstGeom>
        </p:spPr>
      </p:pic>
      <p:sp>
        <p:nvSpPr>
          <p:cNvPr id="10" name="Text 5"/>
          <p:cNvSpPr/>
          <p:nvPr/>
        </p:nvSpPr>
        <p:spPr>
          <a:xfrm>
            <a:off x="9715738" y="3815715"/>
            <a:ext cx="3059549"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Diversidad Cognitiva</a:t>
            </a:r>
            <a:endParaRPr lang="en-US" sz="2200" dirty="0"/>
          </a:p>
        </p:txBody>
      </p:sp>
      <p:sp>
        <p:nvSpPr>
          <p:cNvPr id="11" name="Text 6"/>
          <p:cNvSpPr/>
          <p:nvPr/>
        </p:nvSpPr>
        <p:spPr>
          <a:xfrm>
            <a:off x="9715738" y="4306133"/>
            <a:ext cx="3893939"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Distintas formas en que las personas piensan, aprenden y procesan información, requiriendo adaptaciones en la enseñanza para un aprendizaje efectivo.</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1638" y="566976"/>
            <a:ext cx="6040755" cy="644366"/>
          </a:xfrm>
          <a:prstGeom prst="rect">
            <a:avLst/>
          </a:prstGeom>
          <a:noFill/>
          <a:ln/>
        </p:spPr>
        <p:txBody>
          <a:bodyPr wrap="none" lIns="0" tIns="0" rIns="0" bIns="0" rtlCol="0" anchor="t"/>
          <a:lstStyle/>
          <a:p>
            <a:pPr marL="0" indent="0" algn="l">
              <a:lnSpc>
                <a:spcPts val="5050"/>
              </a:lnSpc>
              <a:buNone/>
            </a:pPr>
            <a:r>
              <a:rPr lang="en-US" sz="4050" dirty="0">
                <a:solidFill>
                  <a:srgbClr val="403CCF"/>
                </a:solidFill>
                <a:latin typeface="Libre Baskerville" pitchFamily="34" charset="0"/>
                <a:ea typeface="Libre Baskerville" pitchFamily="34" charset="-122"/>
                <a:cs typeface="Libre Baskerville" pitchFamily="34" charset="-120"/>
              </a:rPr>
              <a:t>Fundamentos Teóricos</a:t>
            </a:r>
            <a:endParaRPr lang="en-US" sz="4050" dirty="0"/>
          </a:p>
        </p:txBody>
      </p:sp>
      <p:sp>
        <p:nvSpPr>
          <p:cNvPr id="3" name="Text 1"/>
          <p:cNvSpPr/>
          <p:nvPr/>
        </p:nvSpPr>
        <p:spPr>
          <a:xfrm>
            <a:off x="1030843" y="1752481"/>
            <a:ext cx="6032897" cy="1649611"/>
          </a:xfrm>
          <a:prstGeom prst="rect">
            <a:avLst/>
          </a:prstGeom>
          <a:noFill/>
          <a:ln/>
        </p:spPr>
        <p:txBody>
          <a:bodyPr wrap="squar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"Los sistemas hipermedia adaptativos proveen la base técnica para la personalización de contenidos según necesidades individuales, permitiendo ajustar dinámicamente la complejidad, formato y secuencia de los materiales educativos."</a:t>
            </a:r>
            <a:endParaRPr lang="en-US" sz="1600" dirty="0"/>
          </a:p>
        </p:txBody>
      </p:sp>
      <p:sp>
        <p:nvSpPr>
          <p:cNvPr id="4" name="Text 2"/>
          <p:cNvSpPr/>
          <p:nvPr/>
        </p:nvSpPr>
        <p:spPr>
          <a:xfrm>
            <a:off x="1030843" y="3587591"/>
            <a:ext cx="6032897" cy="329922"/>
          </a:xfrm>
          <a:prstGeom prst="rect">
            <a:avLst/>
          </a:prstGeom>
          <a:noFill/>
          <a:ln/>
        </p:spPr>
        <p:txBody>
          <a:bodyPr wrap="non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 Brusilovsky (2001)</a:t>
            </a:r>
            <a:endParaRPr lang="en-US" sz="1600" dirty="0"/>
          </a:p>
        </p:txBody>
      </p:sp>
      <p:sp>
        <p:nvSpPr>
          <p:cNvPr id="5" name="Shape 3"/>
          <p:cNvSpPr/>
          <p:nvPr/>
        </p:nvSpPr>
        <p:spPr>
          <a:xfrm>
            <a:off x="721638" y="1752481"/>
            <a:ext cx="22860" cy="2165033"/>
          </a:xfrm>
          <a:prstGeom prst="rect">
            <a:avLst/>
          </a:prstGeom>
          <a:solidFill>
            <a:srgbClr val="403CCF"/>
          </a:solidFill>
          <a:ln/>
        </p:spPr>
      </p:sp>
      <p:sp>
        <p:nvSpPr>
          <p:cNvPr id="6" name="Text 4"/>
          <p:cNvSpPr/>
          <p:nvPr/>
        </p:nvSpPr>
        <p:spPr>
          <a:xfrm>
            <a:off x="1030843" y="4149447"/>
            <a:ext cx="6032897" cy="989767"/>
          </a:xfrm>
          <a:prstGeom prst="rect">
            <a:avLst/>
          </a:prstGeom>
          <a:noFill/>
          <a:ln/>
        </p:spPr>
        <p:txBody>
          <a:bodyPr wrap="squar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"La tecnología educativa ha permitido superar obstáculos relacionados con el aprendizaje y ha sido especialmente beneficiosa para las personas con discapacidad."</a:t>
            </a:r>
            <a:endParaRPr lang="en-US" sz="1600" dirty="0"/>
          </a:p>
        </p:txBody>
      </p:sp>
      <p:sp>
        <p:nvSpPr>
          <p:cNvPr id="7" name="Text 5"/>
          <p:cNvSpPr/>
          <p:nvPr/>
        </p:nvSpPr>
        <p:spPr>
          <a:xfrm>
            <a:off x="1030843" y="5324713"/>
            <a:ext cx="6032897" cy="329922"/>
          </a:xfrm>
          <a:prstGeom prst="rect">
            <a:avLst/>
          </a:prstGeom>
          <a:noFill/>
          <a:ln/>
        </p:spPr>
        <p:txBody>
          <a:bodyPr wrap="non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 Villatoro Morala &amp; Moreno-Tallona (2024)</a:t>
            </a:r>
            <a:endParaRPr lang="en-US" sz="1600" dirty="0"/>
          </a:p>
        </p:txBody>
      </p:sp>
      <p:sp>
        <p:nvSpPr>
          <p:cNvPr id="8" name="Shape 6"/>
          <p:cNvSpPr/>
          <p:nvPr/>
        </p:nvSpPr>
        <p:spPr>
          <a:xfrm>
            <a:off x="721638" y="4149447"/>
            <a:ext cx="22860" cy="1505188"/>
          </a:xfrm>
          <a:prstGeom prst="rect">
            <a:avLst/>
          </a:prstGeom>
          <a:solidFill>
            <a:srgbClr val="403CCF"/>
          </a:solidFill>
          <a:ln/>
        </p:spPr>
      </p:sp>
      <p:pic>
        <p:nvPicPr>
          <p:cNvPr id="9" name="Image 0" descr="preencoded.png"/>
          <p:cNvPicPr>
            <a:picLocks noChangeAspect="1"/>
          </p:cNvPicPr>
          <p:nvPr/>
        </p:nvPicPr>
        <p:blipFill>
          <a:blip r:embed="rId3"/>
          <a:stretch>
            <a:fillRect/>
          </a:stretch>
        </p:blipFill>
        <p:spPr>
          <a:xfrm>
            <a:off x="7574280" y="1752481"/>
            <a:ext cx="6342102" cy="63421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8163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Metodología</a:t>
            </a:r>
            <a:endParaRPr lang="en-US" sz="4450" dirty="0"/>
          </a:p>
        </p:txBody>
      </p:sp>
      <p:sp>
        <p:nvSpPr>
          <p:cNvPr id="3" name="Shape 1"/>
          <p:cNvSpPr/>
          <p:nvPr/>
        </p:nvSpPr>
        <p:spPr>
          <a:xfrm>
            <a:off x="793790" y="2844046"/>
            <a:ext cx="4196358" cy="3703915"/>
          </a:xfrm>
          <a:prstGeom prst="roundRect">
            <a:avLst>
              <a:gd name="adj" fmla="val 3950"/>
            </a:avLst>
          </a:prstGeom>
          <a:noFill/>
          <a:ln w="30480">
            <a:solidFill>
              <a:srgbClr val="D0CED9"/>
            </a:solidFill>
            <a:prstDash val="solid"/>
          </a:ln>
        </p:spPr>
      </p:sp>
      <p:pic>
        <p:nvPicPr>
          <p:cNvPr id="4" name="Image 0" descr="preencoded.png"/>
          <p:cNvPicPr>
            <a:picLocks noChangeAspect="1"/>
          </p:cNvPicPr>
          <p:nvPr/>
        </p:nvPicPr>
        <p:blipFill>
          <a:blip r:embed="rId3"/>
          <a:stretch>
            <a:fillRect/>
          </a:stretch>
        </p:blipFill>
        <p:spPr>
          <a:xfrm>
            <a:off x="763310" y="2844046"/>
            <a:ext cx="121920" cy="3703915"/>
          </a:xfrm>
          <a:prstGeom prst="rect">
            <a:avLst/>
          </a:prstGeom>
        </p:spPr>
      </p:pic>
      <p:sp>
        <p:nvSpPr>
          <p:cNvPr id="5" name="Text 2"/>
          <p:cNvSpPr/>
          <p:nvPr/>
        </p:nvSpPr>
        <p:spPr>
          <a:xfrm>
            <a:off x="1142524" y="31013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Tipo de Proyecto</a:t>
            </a:r>
            <a:endParaRPr lang="en-US" sz="2200" dirty="0"/>
          </a:p>
        </p:txBody>
      </p:sp>
      <p:sp>
        <p:nvSpPr>
          <p:cNvPr id="6" name="Text 3"/>
          <p:cNvSpPr/>
          <p:nvPr/>
        </p:nvSpPr>
        <p:spPr>
          <a:xfrm>
            <a:off x="1142524" y="3591758"/>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Investigación aplicada con fines de desarrollo tecnológico orientado a experiencias de aprendizaje.</a:t>
            </a:r>
            <a:endParaRPr lang="en-US" sz="1750" dirty="0"/>
          </a:p>
        </p:txBody>
      </p:sp>
      <p:sp>
        <p:nvSpPr>
          <p:cNvPr id="7" name="Shape 4"/>
          <p:cNvSpPr/>
          <p:nvPr/>
        </p:nvSpPr>
        <p:spPr>
          <a:xfrm>
            <a:off x="5216962" y="2844046"/>
            <a:ext cx="4196358" cy="3703915"/>
          </a:xfrm>
          <a:prstGeom prst="roundRect">
            <a:avLst>
              <a:gd name="adj" fmla="val 3950"/>
            </a:avLst>
          </a:prstGeom>
          <a:noFill/>
          <a:ln w="30480">
            <a:solidFill>
              <a:srgbClr val="D0CED9"/>
            </a:solidFill>
            <a:prstDash val="solid"/>
          </a:ln>
        </p:spPr>
      </p:sp>
      <p:pic>
        <p:nvPicPr>
          <p:cNvPr id="8" name="Image 1" descr="preencoded.png"/>
          <p:cNvPicPr>
            <a:picLocks noChangeAspect="1"/>
          </p:cNvPicPr>
          <p:nvPr/>
        </p:nvPicPr>
        <p:blipFill>
          <a:blip r:embed="rId3"/>
          <a:stretch>
            <a:fillRect/>
          </a:stretch>
        </p:blipFill>
        <p:spPr>
          <a:xfrm>
            <a:off x="5186482" y="2844046"/>
            <a:ext cx="121920" cy="3703915"/>
          </a:xfrm>
          <a:prstGeom prst="rect">
            <a:avLst/>
          </a:prstGeom>
        </p:spPr>
      </p:pic>
      <p:sp>
        <p:nvSpPr>
          <p:cNvPr id="9" name="Text 5"/>
          <p:cNvSpPr/>
          <p:nvPr/>
        </p:nvSpPr>
        <p:spPr>
          <a:xfrm>
            <a:off x="5565696" y="31013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Enfoque</a:t>
            </a:r>
            <a:endParaRPr lang="en-US" sz="2200" dirty="0"/>
          </a:p>
        </p:txBody>
      </p:sp>
      <p:sp>
        <p:nvSpPr>
          <p:cNvPr id="10" name="Text 6"/>
          <p:cNvSpPr/>
          <p:nvPr/>
        </p:nvSpPr>
        <p:spPr>
          <a:xfrm>
            <a:off x="5565696" y="3591758"/>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Cuantitativo, para la aplicación de modelos de predicción sobre datos sintéticos y simulados, así como análisis de métricas educativas.</a:t>
            </a:r>
            <a:endParaRPr lang="en-US" sz="1750" dirty="0"/>
          </a:p>
        </p:txBody>
      </p:sp>
      <p:sp>
        <p:nvSpPr>
          <p:cNvPr id="11" name="Shape 7"/>
          <p:cNvSpPr/>
          <p:nvPr/>
        </p:nvSpPr>
        <p:spPr>
          <a:xfrm>
            <a:off x="9640133" y="2844046"/>
            <a:ext cx="4196358" cy="3703915"/>
          </a:xfrm>
          <a:prstGeom prst="roundRect">
            <a:avLst>
              <a:gd name="adj" fmla="val 3950"/>
            </a:avLst>
          </a:prstGeom>
          <a:noFill/>
          <a:ln w="30480">
            <a:solidFill>
              <a:srgbClr val="D0CED9"/>
            </a:solidFill>
            <a:prstDash val="solid"/>
          </a:ln>
        </p:spPr>
      </p:sp>
      <p:pic>
        <p:nvPicPr>
          <p:cNvPr id="12" name="Image 2" descr="preencoded.png"/>
          <p:cNvPicPr>
            <a:picLocks noChangeAspect="1"/>
          </p:cNvPicPr>
          <p:nvPr/>
        </p:nvPicPr>
        <p:blipFill>
          <a:blip r:embed="rId3"/>
          <a:stretch>
            <a:fillRect/>
          </a:stretch>
        </p:blipFill>
        <p:spPr>
          <a:xfrm>
            <a:off x="9609653" y="2844046"/>
            <a:ext cx="121920" cy="3703915"/>
          </a:xfrm>
          <a:prstGeom prst="rect">
            <a:avLst/>
          </a:prstGeom>
        </p:spPr>
      </p:pic>
      <p:sp>
        <p:nvSpPr>
          <p:cNvPr id="13" name="Text 8"/>
          <p:cNvSpPr/>
          <p:nvPr/>
        </p:nvSpPr>
        <p:spPr>
          <a:xfrm>
            <a:off x="9988868" y="31013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Técnicas</a:t>
            </a:r>
            <a:endParaRPr lang="en-US" sz="2200" dirty="0"/>
          </a:p>
        </p:txBody>
      </p:sp>
      <p:sp>
        <p:nvSpPr>
          <p:cNvPr id="14" name="Text 9"/>
          <p:cNvSpPr/>
          <p:nvPr/>
        </p:nvSpPr>
        <p:spPr>
          <a:xfrm>
            <a:off x="9988868" y="3591758"/>
            <a:ext cx="359033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Revisión documental y bibliográfica</a:t>
            </a:r>
            <a:endParaRPr lang="en-US" sz="1750" dirty="0"/>
          </a:p>
        </p:txBody>
      </p:sp>
      <p:sp>
        <p:nvSpPr>
          <p:cNvPr id="15" name="Text 10"/>
          <p:cNvSpPr/>
          <p:nvPr/>
        </p:nvSpPr>
        <p:spPr>
          <a:xfrm>
            <a:off x="9988868" y="4396859"/>
            <a:ext cx="3590330"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Generación de datos sintéticos (70%) y simulación (30%)</a:t>
            </a:r>
            <a:endParaRPr lang="en-US" sz="1750" dirty="0"/>
          </a:p>
        </p:txBody>
      </p:sp>
      <p:sp>
        <p:nvSpPr>
          <p:cNvPr id="16" name="Text 11"/>
          <p:cNvSpPr/>
          <p:nvPr/>
        </p:nvSpPr>
        <p:spPr>
          <a:xfrm>
            <a:off x="9988868" y="5564862"/>
            <a:ext cx="359033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Aplicación de modelos de machine learning</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1638" y="566976"/>
            <a:ext cx="6361867" cy="644366"/>
          </a:xfrm>
          <a:prstGeom prst="rect">
            <a:avLst/>
          </a:prstGeom>
          <a:noFill/>
          <a:ln/>
        </p:spPr>
        <p:txBody>
          <a:bodyPr wrap="none" lIns="0" tIns="0" rIns="0" bIns="0" rtlCol="0" anchor="t"/>
          <a:lstStyle/>
          <a:p>
            <a:pPr marL="0" indent="0" algn="l">
              <a:lnSpc>
                <a:spcPts val="5050"/>
              </a:lnSpc>
              <a:buNone/>
            </a:pPr>
            <a:r>
              <a:rPr lang="en-US" sz="4050" dirty="0">
                <a:solidFill>
                  <a:srgbClr val="403CCF"/>
                </a:solidFill>
                <a:latin typeface="Libre Baskerville" pitchFamily="34" charset="0"/>
                <a:ea typeface="Libre Baskerville" pitchFamily="34" charset="-122"/>
                <a:cs typeface="Libre Baskerville" pitchFamily="34" charset="-120"/>
              </a:rPr>
              <a:t>Herramientas Utilizadas</a:t>
            </a:r>
            <a:endParaRPr lang="en-US" sz="4050" dirty="0"/>
          </a:p>
        </p:txBody>
      </p:sp>
      <p:sp>
        <p:nvSpPr>
          <p:cNvPr id="3" name="Text 1"/>
          <p:cNvSpPr/>
          <p:nvPr/>
        </p:nvSpPr>
        <p:spPr>
          <a:xfrm>
            <a:off x="721638" y="1726644"/>
            <a:ext cx="3426262" cy="322183"/>
          </a:xfrm>
          <a:prstGeom prst="rect">
            <a:avLst/>
          </a:prstGeom>
          <a:noFill/>
          <a:ln/>
        </p:spPr>
        <p:txBody>
          <a:bodyPr wrap="none" lIns="0" tIns="0" rIns="0" bIns="0" rtlCol="0" anchor="t"/>
          <a:lstStyle/>
          <a:p>
            <a:pPr marL="0" indent="0" algn="l">
              <a:lnSpc>
                <a:spcPts val="2500"/>
              </a:lnSpc>
              <a:buNone/>
            </a:pPr>
            <a:r>
              <a:rPr lang="en-US" sz="2000" dirty="0">
                <a:solidFill>
                  <a:srgbClr val="403CCF"/>
                </a:solidFill>
                <a:latin typeface="Libre Baskerville" pitchFamily="34" charset="0"/>
                <a:ea typeface="Libre Baskerville" pitchFamily="34" charset="-122"/>
                <a:cs typeface="Libre Baskerville" pitchFamily="34" charset="-120"/>
              </a:rPr>
              <a:t>Plataformas de Desarrollo</a:t>
            </a:r>
            <a:endParaRPr lang="en-US" sz="2000" dirty="0"/>
          </a:p>
        </p:txBody>
      </p:sp>
      <p:sp>
        <p:nvSpPr>
          <p:cNvPr id="4" name="Text 2"/>
          <p:cNvSpPr/>
          <p:nvPr/>
        </p:nvSpPr>
        <p:spPr>
          <a:xfrm>
            <a:off x="721638" y="2254925"/>
            <a:ext cx="6342102" cy="659844"/>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Jupyter Notebook: análisis de datos y entrenamiento de modelos</a:t>
            </a:r>
            <a:endParaRPr lang="en-US" sz="1600" dirty="0"/>
          </a:p>
        </p:txBody>
      </p:sp>
      <p:sp>
        <p:nvSpPr>
          <p:cNvPr id="5" name="Text 3"/>
          <p:cNvSpPr/>
          <p:nvPr/>
        </p:nvSpPr>
        <p:spPr>
          <a:xfrm>
            <a:off x="721638" y="2986921"/>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Google Colab: colaboración y pruebas en la nube</a:t>
            </a:r>
            <a:endParaRPr lang="en-US" sz="1600" dirty="0"/>
          </a:p>
        </p:txBody>
      </p:sp>
      <p:sp>
        <p:nvSpPr>
          <p:cNvPr id="6" name="Text 4"/>
          <p:cNvSpPr/>
          <p:nvPr/>
        </p:nvSpPr>
        <p:spPr>
          <a:xfrm>
            <a:off x="721638" y="3522940"/>
            <a:ext cx="2713077" cy="322183"/>
          </a:xfrm>
          <a:prstGeom prst="rect">
            <a:avLst/>
          </a:prstGeom>
          <a:noFill/>
          <a:ln/>
        </p:spPr>
        <p:txBody>
          <a:bodyPr wrap="none" lIns="0" tIns="0" rIns="0" bIns="0" rtlCol="0" anchor="t"/>
          <a:lstStyle/>
          <a:p>
            <a:pPr marL="0" indent="0" algn="l">
              <a:lnSpc>
                <a:spcPts val="2500"/>
              </a:lnSpc>
              <a:buNone/>
            </a:pPr>
            <a:r>
              <a:rPr lang="en-US" sz="2000" dirty="0">
                <a:solidFill>
                  <a:srgbClr val="403CCF"/>
                </a:solidFill>
                <a:latin typeface="Libre Baskerville" pitchFamily="34" charset="0"/>
                <a:ea typeface="Libre Baskerville" pitchFamily="34" charset="-122"/>
                <a:cs typeface="Libre Baskerville" pitchFamily="34" charset="-120"/>
              </a:rPr>
              <a:t>Librerías Principales</a:t>
            </a:r>
            <a:endParaRPr lang="en-US" sz="2000" dirty="0"/>
          </a:p>
        </p:txBody>
      </p:sp>
      <p:sp>
        <p:nvSpPr>
          <p:cNvPr id="7" name="Text 5"/>
          <p:cNvSpPr/>
          <p:nvPr/>
        </p:nvSpPr>
        <p:spPr>
          <a:xfrm>
            <a:off x="721638" y="4051221"/>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Pandas, numpy: manipulación y análisis de datos</a:t>
            </a:r>
            <a:endParaRPr lang="en-US" sz="1600" dirty="0"/>
          </a:p>
        </p:txBody>
      </p:sp>
      <p:sp>
        <p:nvSpPr>
          <p:cNvPr id="8" name="Text 6"/>
          <p:cNvSpPr/>
          <p:nvPr/>
        </p:nvSpPr>
        <p:spPr>
          <a:xfrm>
            <a:off x="721638" y="4453295"/>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Matplotlib, seaborn: visualización gráfica</a:t>
            </a:r>
            <a:endParaRPr lang="en-US" sz="1600" dirty="0"/>
          </a:p>
        </p:txBody>
      </p:sp>
      <p:sp>
        <p:nvSpPr>
          <p:cNvPr id="9" name="Text 7"/>
          <p:cNvSpPr/>
          <p:nvPr/>
        </p:nvSpPr>
        <p:spPr>
          <a:xfrm>
            <a:off x="721638" y="4855369"/>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Scikit-learn: entrenamiento y evaluación de modelos</a:t>
            </a:r>
            <a:endParaRPr lang="en-US" sz="1600" dirty="0"/>
          </a:p>
        </p:txBody>
      </p:sp>
      <p:sp>
        <p:nvSpPr>
          <p:cNvPr id="10" name="Text 8"/>
          <p:cNvSpPr/>
          <p:nvPr/>
        </p:nvSpPr>
        <p:spPr>
          <a:xfrm>
            <a:off x="721638" y="5257443"/>
            <a:ext cx="6342102" cy="3299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Scipy.stats: pruebas estadísticas</a:t>
            </a:r>
            <a:endParaRPr lang="en-US" sz="1600" dirty="0"/>
          </a:p>
        </p:txBody>
      </p:sp>
      <p:pic>
        <p:nvPicPr>
          <p:cNvPr id="11" name="Image 0" descr="preencoded.png"/>
          <p:cNvPicPr>
            <a:picLocks noChangeAspect="1"/>
          </p:cNvPicPr>
          <p:nvPr/>
        </p:nvPicPr>
        <p:blipFill>
          <a:blip r:embed="rId3"/>
          <a:stretch>
            <a:fillRect/>
          </a:stretch>
        </p:blipFill>
        <p:spPr>
          <a:xfrm>
            <a:off x="7574280" y="1752481"/>
            <a:ext cx="6342102" cy="63421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1279" y="560308"/>
            <a:ext cx="5098613" cy="634960"/>
          </a:xfrm>
          <a:prstGeom prst="rect">
            <a:avLst/>
          </a:prstGeom>
          <a:noFill/>
          <a:ln/>
        </p:spPr>
        <p:txBody>
          <a:bodyPr wrap="none" lIns="0" tIns="0" rIns="0" bIns="0" rtlCol="0" anchor="t"/>
          <a:lstStyle/>
          <a:p>
            <a:pPr marL="0" indent="0" algn="l">
              <a:lnSpc>
                <a:spcPts val="5000"/>
              </a:lnSpc>
              <a:buNone/>
            </a:pPr>
            <a:r>
              <a:rPr lang="en-US" sz="4000" dirty="0">
                <a:solidFill>
                  <a:srgbClr val="403CCF"/>
                </a:solidFill>
                <a:latin typeface="Libre Baskerville" pitchFamily="34" charset="0"/>
                <a:ea typeface="Libre Baskerville" pitchFamily="34" charset="-122"/>
                <a:cs typeface="Libre Baskerville" pitchFamily="34" charset="-120"/>
              </a:rPr>
              <a:t>Etapas del Proyecto</a:t>
            </a:r>
            <a:endParaRPr lang="en-US" sz="4000" dirty="0"/>
          </a:p>
        </p:txBody>
      </p:sp>
      <p:sp>
        <p:nvSpPr>
          <p:cNvPr id="3" name="Shape 1"/>
          <p:cNvSpPr/>
          <p:nvPr/>
        </p:nvSpPr>
        <p:spPr>
          <a:xfrm>
            <a:off x="7303770" y="1601629"/>
            <a:ext cx="22860" cy="6067663"/>
          </a:xfrm>
          <a:prstGeom prst="roundRect">
            <a:avLst>
              <a:gd name="adj" fmla="val 133358"/>
            </a:avLst>
          </a:prstGeom>
          <a:solidFill>
            <a:srgbClr val="D0CED9"/>
          </a:solidFill>
          <a:ln/>
        </p:spPr>
      </p:sp>
      <p:sp>
        <p:nvSpPr>
          <p:cNvPr id="4" name="Shape 2"/>
          <p:cNvSpPr/>
          <p:nvPr/>
        </p:nvSpPr>
        <p:spPr>
          <a:xfrm>
            <a:off x="6499860" y="1818799"/>
            <a:ext cx="609600" cy="22860"/>
          </a:xfrm>
          <a:prstGeom prst="roundRect">
            <a:avLst>
              <a:gd name="adj" fmla="val 133358"/>
            </a:avLst>
          </a:prstGeom>
          <a:solidFill>
            <a:srgbClr val="D0CED9"/>
          </a:solidFill>
          <a:ln/>
        </p:spPr>
      </p:sp>
      <p:sp>
        <p:nvSpPr>
          <p:cNvPr id="5" name="Shape 3"/>
          <p:cNvSpPr/>
          <p:nvPr/>
        </p:nvSpPr>
        <p:spPr>
          <a:xfrm>
            <a:off x="7086600" y="1601629"/>
            <a:ext cx="457200" cy="457200"/>
          </a:xfrm>
          <a:prstGeom prst="roundRect">
            <a:avLst>
              <a:gd name="adj" fmla="val 6668"/>
            </a:avLst>
          </a:prstGeom>
          <a:solidFill>
            <a:srgbClr val="EAE8F3"/>
          </a:solidFill>
          <a:ln/>
        </p:spPr>
      </p:sp>
      <p:sp>
        <p:nvSpPr>
          <p:cNvPr id="6" name="Text 4"/>
          <p:cNvSpPr/>
          <p:nvPr/>
        </p:nvSpPr>
        <p:spPr>
          <a:xfrm>
            <a:off x="7162800" y="1639729"/>
            <a:ext cx="304800" cy="381000"/>
          </a:xfrm>
          <a:prstGeom prst="rect">
            <a:avLst/>
          </a:prstGeom>
          <a:noFill/>
          <a:ln/>
        </p:spPr>
        <p:txBody>
          <a:bodyPr wrap="none" lIns="0" tIns="0" rIns="0" bIns="0" rtlCol="0" anchor="t"/>
          <a:lstStyle/>
          <a:p>
            <a:pPr marL="0" indent="0" algn="ctr">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1</a:t>
            </a:r>
            <a:endParaRPr lang="en-US" sz="2400" dirty="0"/>
          </a:p>
        </p:txBody>
      </p:sp>
      <p:sp>
        <p:nvSpPr>
          <p:cNvPr id="7" name="Text 5"/>
          <p:cNvSpPr/>
          <p:nvPr/>
        </p:nvSpPr>
        <p:spPr>
          <a:xfrm>
            <a:off x="3510796" y="1671399"/>
            <a:ext cx="2788325" cy="317540"/>
          </a:xfrm>
          <a:prstGeom prst="rect">
            <a:avLst/>
          </a:prstGeom>
          <a:noFill/>
          <a:ln/>
        </p:spPr>
        <p:txBody>
          <a:bodyPr wrap="none" lIns="0" tIns="0" rIns="0" bIns="0" rtlCol="0" anchor="t"/>
          <a:lstStyle/>
          <a:p>
            <a:pPr marL="0" indent="0" algn="r">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Revisión de literatura</a:t>
            </a:r>
            <a:endParaRPr lang="en-US" sz="2000" dirty="0"/>
          </a:p>
        </p:txBody>
      </p:sp>
      <p:sp>
        <p:nvSpPr>
          <p:cNvPr id="8" name="Text 6"/>
          <p:cNvSpPr/>
          <p:nvPr/>
        </p:nvSpPr>
        <p:spPr>
          <a:xfrm>
            <a:off x="711279" y="2110859"/>
            <a:ext cx="5587841" cy="650319"/>
          </a:xfrm>
          <a:prstGeom prst="rect">
            <a:avLst/>
          </a:prstGeom>
          <a:noFill/>
          <a:ln/>
        </p:spPr>
        <p:txBody>
          <a:bodyPr wrap="square" lIns="0" tIns="0" rIns="0" bIns="0" rtlCol="0" anchor="t"/>
          <a:lstStyle/>
          <a:p>
            <a:pPr marL="0" indent="0" algn="r">
              <a:lnSpc>
                <a:spcPts val="2550"/>
              </a:lnSpc>
              <a:buNone/>
            </a:pPr>
            <a:r>
              <a:rPr lang="en-US" sz="1600" dirty="0">
                <a:solidFill>
                  <a:srgbClr val="49495A"/>
                </a:solidFill>
                <a:latin typeface="Open Sans" pitchFamily="34" charset="0"/>
                <a:ea typeface="Open Sans" pitchFamily="34" charset="-122"/>
                <a:cs typeface="Open Sans" pitchFamily="34" charset="-120"/>
              </a:rPr>
              <a:t>Lectura de papers, artículos y escritos referentes a tutor inteligente, TDA, IA y variedad cognitiva.</a:t>
            </a:r>
            <a:endParaRPr lang="en-US" sz="1600" dirty="0"/>
          </a:p>
        </p:txBody>
      </p:sp>
      <p:sp>
        <p:nvSpPr>
          <p:cNvPr id="9" name="Shape 7"/>
          <p:cNvSpPr/>
          <p:nvPr/>
        </p:nvSpPr>
        <p:spPr>
          <a:xfrm>
            <a:off x="7520940" y="3037999"/>
            <a:ext cx="609600" cy="22860"/>
          </a:xfrm>
          <a:prstGeom prst="roundRect">
            <a:avLst>
              <a:gd name="adj" fmla="val 133358"/>
            </a:avLst>
          </a:prstGeom>
          <a:solidFill>
            <a:srgbClr val="D0CED9"/>
          </a:solidFill>
          <a:ln/>
        </p:spPr>
      </p:sp>
      <p:sp>
        <p:nvSpPr>
          <p:cNvPr id="10" name="Shape 8"/>
          <p:cNvSpPr/>
          <p:nvPr/>
        </p:nvSpPr>
        <p:spPr>
          <a:xfrm>
            <a:off x="7086600" y="2820829"/>
            <a:ext cx="457200" cy="457200"/>
          </a:xfrm>
          <a:prstGeom prst="roundRect">
            <a:avLst>
              <a:gd name="adj" fmla="val 6668"/>
            </a:avLst>
          </a:prstGeom>
          <a:solidFill>
            <a:srgbClr val="EAE8F3"/>
          </a:solidFill>
          <a:ln/>
        </p:spPr>
      </p:sp>
      <p:sp>
        <p:nvSpPr>
          <p:cNvPr id="11" name="Text 9"/>
          <p:cNvSpPr/>
          <p:nvPr/>
        </p:nvSpPr>
        <p:spPr>
          <a:xfrm>
            <a:off x="7162800" y="2858929"/>
            <a:ext cx="304800" cy="381000"/>
          </a:xfrm>
          <a:prstGeom prst="rect">
            <a:avLst/>
          </a:prstGeom>
          <a:noFill/>
          <a:ln/>
        </p:spPr>
        <p:txBody>
          <a:bodyPr wrap="none" lIns="0" tIns="0" rIns="0" bIns="0" rtlCol="0" anchor="t"/>
          <a:lstStyle/>
          <a:p>
            <a:pPr marL="0" indent="0" algn="ctr">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2</a:t>
            </a:r>
            <a:endParaRPr lang="en-US" sz="2400" dirty="0"/>
          </a:p>
        </p:txBody>
      </p:sp>
      <p:sp>
        <p:nvSpPr>
          <p:cNvPr id="12" name="Text 10"/>
          <p:cNvSpPr/>
          <p:nvPr/>
        </p:nvSpPr>
        <p:spPr>
          <a:xfrm>
            <a:off x="8331279" y="2890599"/>
            <a:ext cx="3167182" cy="317540"/>
          </a:xfrm>
          <a:prstGeom prst="rect">
            <a:avLst/>
          </a:prstGeom>
          <a:noFill/>
          <a:ln/>
        </p:spPr>
        <p:txBody>
          <a:bodyPr wrap="none" lIns="0" tIns="0" rIns="0" bIns="0" rtlCol="0" anchor="t"/>
          <a:lstStyle/>
          <a:p>
            <a:pPr marL="0" indent="0" algn="l">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Preparación del entorno</a:t>
            </a:r>
            <a:endParaRPr lang="en-US" sz="2000" dirty="0"/>
          </a:p>
        </p:txBody>
      </p:sp>
      <p:sp>
        <p:nvSpPr>
          <p:cNvPr id="13" name="Text 11"/>
          <p:cNvSpPr/>
          <p:nvPr/>
        </p:nvSpPr>
        <p:spPr>
          <a:xfrm>
            <a:off x="8331279" y="3330059"/>
            <a:ext cx="5587841" cy="650319"/>
          </a:xfrm>
          <a:prstGeom prst="rect">
            <a:avLst/>
          </a:prstGeom>
          <a:noFill/>
          <a:ln/>
        </p:spPr>
        <p:txBody>
          <a:bodyPr wrap="squar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Configuración de herramientas en Google Colab para desarrollo del modelo.</a:t>
            </a:r>
            <a:endParaRPr lang="en-US" sz="1600" dirty="0"/>
          </a:p>
        </p:txBody>
      </p:sp>
      <p:sp>
        <p:nvSpPr>
          <p:cNvPr id="14" name="Shape 12"/>
          <p:cNvSpPr/>
          <p:nvPr/>
        </p:nvSpPr>
        <p:spPr>
          <a:xfrm>
            <a:off x="6499860" y="4088963"/>
            <a:ext cx="609600" cy="22860"/>
          </a:xfrm>
          <a:prstGeom prst="roundRect">
            <a:avLst>
              <a:gd name="adj" fmla="val 133358"/>
            </a:avLst>
          </a:prstGeom>
          <a:solidFill>
            <a:srgbClr val="D0CED9"/>
          </a:solidFill>
          <a:ln/>
        </p:spPr>
      </p:sp>
      <p:sp>
        <p:nvSpPr>
          <p:cNvPr id="15" name="Shape 13"/>
          <p:cNvSpPr/>
          <p:nvPr/>
        </p:nvSpPr>
        <p:spPr>
          <a:xfrm>
            <a:off x="7086600" y="3871793"/>
            <a:ext cx="457200" cy="457200"/>
          </a:xfrm>
          <a:prstGeom prst="roundRect">
            <a:avLst>
              <a:gd name="adj" fmla="val 6668"/>
            </a:avLst>
          </a:prstGeom>
          <a:solidFill>
            <a:srgbClr val="EAE8F3"/>
          </a:solidFill>
          <a:ln/>
        </p:spPr>
      </p:sp>
      <p:sp>
        <p:nvSpPr>
          <p:cNvPr id="16" name="Text 14"/>
          <p:cNvSpPr/>
          <p:nvPr/>
        </p:nvSpPr>
        <p:spPr>
          <a:xfrm>
            <a:off x="7162800" y="3909893"/>
            <a:ext cx="304800" cy="381000"/>
          </a:xfrm>
          <a:prstGeom prst="rect">
            <a:avLst/>
          </a:prstGeom>
          <a:noFill/>
          <a:ln/>
        </p:spPr>
        <p:txBody>
          <a:bodyPr wrap="none" lIns="0" tIns="0" rIns="0" bIns="0" rtlCol="0" anchor="t"/>
          <a:lstStyle/>
          <a:p>
            <a:pPr marL="0" indent="0" algn="ctr">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3</a:t>
            </a:r>
            <a:endParaRPr lang="en-US" sz="2400" dirty="0"/>
          </a:p>
        </p:txBody>
      </p:sp>
      <p:sp>
        <p:nvSpPr>
          <p:cNvPr id="17" name="Text 15"/>
          <p:cNvSpPr/>
          <p:nvPr/>
        </p:nvSpPr>
        <p:spPr>
          <a:xfrm>
            <a:off x="2024896" y="3941564"/>
            <a:ext cx="4274225" cy="317540"/>
          </a:xfrm>
          <a:prstGeom prst="rect">
            <a:avLst/>
          </a:prstGeom>
          <a:noFill/>
          <a:ln/>
        </p:spPr>
        <p:txBody>
          <a:bodyPr wrap="none" lIns="0" tIns="0" rIns="0" bIns="0" rtlCol="0" anchor="t"/>
          <a:lstStyle/>
          <a:p>
            <a:pPr marL="0" indent="0" algn="r">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Obtención y generación de datos</a:t>
            </a:r>
            <a:endParaRPr lang="en-US" sz="2000" dirty="0"/>
          </a:p>
        </p:txBody>
      </p:sp>
      <p:sp>
        <p:nvSpPr>
          <p:cNvPr id="18" name="Text 16"/>
          <p:cNvSpPr/>
          <p:nvPr/>
        </p:nvSpPr>
        <p:spPr>
          <a:xfrm>
            <a:off x="711279" y="4381024"/>
            <a:ext cx="5587841" cy="650319"/>
          </a:xfrm>
          <a:prstGeom prst="rect">
            <a:avLst/>
          </a:prstGeom>
          <a:noFill/>
          <a:ln/>
        </p:spPr>
        <p:txBody>
          <a:bodyPr wrap="square" lIns="0" tIns="0" rIns="0" bIns="0" rtlCol="0" anchor="t"/>
          <a:lstStyle/>
          <a:p>
            <a:pPr marL="0" indent="0" algn="r">
              <a:lnSpc>
                <a:spcPts val="2550"/>
              </a:lnSpc>
              <a:buNone/>
            </a:pPr>
            <a:r>
              <a:rPr lang="en-US" sz="1600" dirty="0">
                <a:solidFill>
                  <a:srgbClr val="49495A"/>
                </a:solidFill>
                <a:latin typeface="Open Sans" pitchFamily="34" charset="0"/>
                <a:ea typeface="Open Sans" pitchFamily="34" charset="-122"/>
                <a:cs typeface="Open Sans" pitchFamily="34" charset="-120"/>
              </a:rPr>
              <a:t>Búsqueda de datasets y complementación con datos sintéticos para representar distintos perfiles.</a:t>
            </a:r>
            <a:endParaRPr lang="en-US" sz="1600" dirty="0"/>
          </a:p>
        </p:txBody>
      </p:sp>
      <p:sp>
        <p:nvSpPr>
          <p:cNvPr id="19" name="Shape 17"/>
          <p:cNvSpPr/>
          <p:nvPr/>
        </p:nvSpPr>
        <p:spPr>
          <a:xfrm>
            <a:off x="7520940" y="5139928"/>
            <a:ext cx="609600" cy="22860"/>
          </a:xfrm>
          <a:prstGeom prst="roundRect">
            <a:avLst>
              <a:gd name="adj" fmla="val 133358"/>
            </a:avLst>
          </a:prstGeom>
          <a:solidFill>
            <a:srgbClr val="D0CED9"/>
          </a:solidFill>
          <a:ln/>
        </p:spPr>
      </p:sp>
      <p:sp>
        <p:nvSpPr>
          <p:cNvPr id="20" name="Shape 18"/>
          <p:cNvSpPr/>
          <p:nvPr/>
        </p:nvSpPr>
        <p:spPr>
          <a:xfrm>
            <a:off x="7086600" y="4922758"/>
            <a:ext cx="457200" cy="457200"/>
          </a:xfrm>
          <a:prstGeom prst="roundRect">
            <a:avLst>
              <a:gd name="adj" fmla="val 6668"/>
            </a:avLst>
          </a:prstGeom>
          <a:solidFill>
            <a:srgbClr val="EAE8F3"/>
          </a:solidFill>
          <a:ln/>
        </p:spPr>
      </p:sp>
      <p:sp>
        <p:nvSpPr>
          <p:cNvPr id="21" name="Text 19"/>
          <p:cNvSpPr/>
          <p:nvPr/>
        </p:nvSpPr>
        <p:spPr>
          <a:xfrm>
            <a:off x="7162800" y="4960858"/>
            <a:ext cx="304800" cy="381000"/>
          </a:xfrm>
          <a:prstGeom prst="rect">
            <a:avLst/>
          </a:prstGeom>
          <a:noFill/>
          <a:ln/>
        </p:spPr>
        <p:txBody>
          <a:bodyPr wrap="none" lIns="0" tIns="0" rIns="0" bIns="0" rtlCol="0" anchor="t"/>
          <a:lstStyle/>
          <a:p>
            <a:pPr marL="0" indent="0" algn="ctr">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4</a:t>
            </a:r>
            <a:endParaRPr lang="en-US" sz="2400" dirty="0"/>
          </a:p>
        </p:txBody>
      </p:sp>
      <p:sp>
        <p:nvSpPr>
          <p:cNvPr id="22" name="Text 20"/>
          <p:cNvSpPr/>
          <p:nvPr/>
        </p:nvSpPr>
        <p:spPr>
          <a:xfrm>
            <a:off x="8331279" y="4992529"/>
            <a:ext cx="4312325" cy="317540"/>
          </a:xfrm>
          <a:prstGeom prst="rect">
            <a:avLst/>
          </a:prstGeom>
          <a:noFill/>
          <a:ln/>
        </p:spPr>
        <p:txBody>
          <a:bodyPr wrap="none" lIns="0" tIns="0" rIns="0" bIns="0" rtlCol="0" anchor="t"/>
          <a:lstStyle/>
          <a:p>
            <a:pPr marL="0" indent="0" algn="l">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Desarrollo del modelo predictivo</a:t>
            </a:r>
            <a:endParaRPr lang="en-US" sz="2000" dirty="0"/>
          </a:p>
        </p:txBody>
      </p:sp>
      <p:sp>
        <p:nvSpPr>
          <p:cNvPr id="23" name="Text 21"/>
          <p:cNvSpPr/>
          <p:nvPr/>
        </p:nvSpPr>
        <p:spPr>
          <a:xfrm>
            <a:off x="8331279" y="5431988"/>
            <a:ext cx="5587841" cy="650319"/>
          </a:xfrm>
          <a:prstGeom prst="rect">
            <a:avLst/>
          </a:prstGeom>
          <a:noFill/>
          <a:ln/>
        </p:spPr>
        <p:txBody>
          <a:bodyPr wrap="square" lIns="0" tIns="0" rIns="0" bIns="0" rtlCol="0" anchor="t"/>
          <a:lstStyle/>
          <a:p>
            <a:pPr marL="0" indent="0" algn="l">
              <a:lnSpc>
                <a:spcPts val="2550"/>
              </a:lnSpc>
              <a:buNone/>
            </a:pPr>
            <a:r>
              <a:rPr lang="en-US" sz="1600" dirty="0">
                <a:solidFill>
                  <a:srgbClr val="49495A"/>
                </a:solidFill>
                <a:latin typeface="Open Sans" pitchFamily="34" charset="0"/>
                <a:ea typeface="Open Sans" pitchFamily="34" charset="-122"/>
                <a:cs typeface="Open Sans" pitchFamily="34" charset="-120"/>
              </a:rPr>
              <a:t>Programación y ejecución de scripts aplicando algoritmos de aprendizaje automático.</a:t>
            </a:r>
            <a:endParaRPr lang="en-US" sz="1600" dirty="0"/>
          </a:p>
        </p:txBody>
      </p:sp>
      <p:sp>
        <p:nvSpPr>
          <p:cNvPr id="24" name="Shape 22"/>
          <p:cNvSpPr/>
          <p:nvPr/>
        </p:nvSpPr>
        <p:spPr>
          <a:xfrm>
            <a:off x="6499860" y="6190893"/>
            <a:ext cx="609600" cy="22860"/>
          </a:xfrm>
          <a:prstGeom prst="roundRect">
            <a:avLst>
              <a:gd name="adj" fmla="val 133358"/>
            </a:avLst>
          </a:prstGeom>
          <a:solidFill>
            <a:srgbClr val="D0CED9"/>
          </a:solidFill>
          <a:ln/>
        </p:spPr>
      </p:sp>
      <p:sp>
        <p:nvSpPr>
          <p:cNvPr id="25" name="Shape 23"/>
          <p:cNvSpPr/>
          <p:nvPr/>
        </p:nvSpPr>
        <p:spPr>
          <a:xfrm>
            <a:off x="7086600" y="5973723"/>
            <a:ext cx="457200" cy="457200"/>
          </a:xfrm>
          <a:prstGeom prst="roundRect">
            <a:avLst>
              <a:gd name="adj" fmla="val 6668"/>
            </a:avLst>
          </a:prstGeom>
          <a:solidFill>
            <a:srgbClr val="EAE8F3"/>
          </a:solidFill>
          <a:ln/>
        </p:spPr>
      </p:sp>
      <p:sp>
        <p:nvSpPr>
          <p:cNvPr id="26" name="Text 24"/>
          <p:cNvSpPr/>
          <p:nvPr/>
        </p:nvSpPr>
        <p:spPr>
          <a:xfrm>
            <a:off x="7162800" y="6011823"/>
            <a:ext cx="304800" cy="381000"/>
          </a:xfrm>
          <a:prstGeom prst="rect">
            <a:avLst/>
          </a:prstGeom>
          <a:noFill/>
          <a:ln/>
        </p:spPr>
        <p:txBody>
          <a:bodyPr wrap="none" lIns="0" tIns="0" rIns="0" bIns="0" rtlCol="0" anchor="t"/>
          <a:lstStyle/>
          <a:p>
            <a:pPr marL="0" indent="0" algn="ctr">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5</a:t>
            </a:r>
            <a:endParaRPr lang="en-US" sz="2400" dirty="0"/>
          </a:p>
        </p:txBody>
      </p:sp>
      <p:sp>
        <p:nvSpPr>
          <p:cNvPr id="27" name="Text 25"/>
          <p:cNvSpPr/>
          <p:nvPr/>
        </p:nvSpPr>
        <p:spPr>
          <a:xfrm>
            <a:off x="3148727" y="6043493"/>
            <a:ext cx="3150394" cy="317540"/>
          </a:xfrm>
          <a:prstGeom prst="rect">
            <a:avLst/>
          </a:prstGeom>
          <a:noFill/>
          <a:ln/>
        </p:spPr>
        <p:txBody>
          <a:bodyPr wrap="none" lIns="0" tIns="0" rIns="0" bIns="0" rtlCol="0" anchor="t"/>
          <a:lstStyle/>
          <a:p>
            <a:pPr marL="0" indent="0" algn="r">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Análisis e interpretación</a:t>
            </a:r>
            <a:endParaRPr lang="en-US" sz="2000" dirty="0"/>
          </a:p>
        </p:txBody>
      </p:sp>
      <p:sp>
        <p:nvSpPr>
          <p:cNvPr id="28" name="Text 26"/>
          <p:cNvSpPr/>
          <p:nvPr/>
        </p:nvSpPr>
        <p:spPr>
          <a:xfrm>
            <a:off x="711279" y="6482953"/>
            <a:ext cx="5587841" cy="650319"/>
          </a:xfrm>
          <a:prstGeom prst="rect">
            <a:avLst/>
          </a:prstGeom>
          <a:noFill/>
          <a:ln/>
        </p:spPr>
        <p:txBody>
          <a:bodyPr wrap="square" lIns="0" tIns="0" rIns="0" bIns="0" rtlCol="0" anchor="t"/>
          <a:lstStyle/>
          <a:p>
            <a:pPr marL="0" indent="0" algn="r">
              <a:lnSpc>
                <a:spcPts val="2550"/>
              </a:lnSpc>
              <a:buNone/>
            </a:pPr>
            <a:r>
              <a:rPr lang="en-US" sz="1600" dirty="0">
                <a:solidFill>
                  <a:srgbClr val="49495A"/>
                </a:solidFill>
                <a:latin typeface="Open Sans" pitchFamily="34" charset="0"/>
                <a:ea typeface="Open Sans" pitchFamily="34" charset="-122"/>
                <a:cs typeface="Open Sans" pitchFamily="34" charset="-120"/>
              </a:rPr>
              <a:t>Interpretación de resultados considerando su aplicabilidad en entornos educativos reales.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434053" y="1129208"/>
            <a:ext cx="3482578" cy="380047"/>
          </a:xfrm>
          <a:prstGeom prst="rect">
            <a:avLst/>
          </a:prstGeom>
          <a:noFill/>
          <a:ln/>
        </p:spPr>
        <p:txBody>
          <a:bodyPr wrap="none" lIns="0" tIns="0" rIns="0" bIns="0" rtlCol="0" anchor="t"/>
          <a:lstStyle/>
          <a:p>
            <a:pPr marL="0" indent="0" algn="l">
              <a:lnSpc>
                <a:spcPts val="2950"/>
              </a:lnSpc>
              <a:buNone/>
            </a:pPr>
            <a:r>
              <a:rPr lang="en-US" sz="2350" dirty="0">
                <a:solidFill>
                  <a:srgbClr val="403CCF"/>
                </a:solidFill>
                <a:latin typeface="Libre Baskerville" pitchFamily="34" charset="0"/>
                <a:ea typeface="Libre Baskerville" pitchFamily="34" charset="-122"/>
                <a:cs typeface="Libre Baskerville" pitchFamily="34" charset="-120"/>
              </a:rPr>
              <a:t>Desarrollo del Modelo</a:t>
            </a:r>
            <a:endParaRPr lang="en-US" sz="2350" dirty="0"/>
          </a:p>
        </p:txBody>
      </p:sp>
      <p:sp>
        <p:nvSpPr>
          <p:cNvPr id="3" name="Text 1"/>
          <p:cNvSpPr/>
          <p:nvPr/>
        </p:nvSpPr>
        <p:spPr>
          <a:xfrm>
            <a:off x="1434052" y="1801077"/>
            <a:ext cx="7778315" cy="831030"/>
          </a:xfrm>
          <a:prstGeom prst="rect">
            <a:avLst/>
          </a:prstGeom>
          <a:noFill/>
          <a:ln/>
        </p:spPr>
        <p:txBody>
          <a:bodyPr wrap="none" lIns="0" tIns="0" rIns="0" bIns="0" rtlCol="0" anchor="t"/>
          <a:lstStyle/>
          <a:p>
            <a:pPr marL="0" indent="0" algn="l">
              <a:lnSpc>
                <a:spcPct val="150000"/>
              </a:lnSpc>
              <a:buNone/>
            </a:pPr>
            <a:r>
              <a:rPr lang="en-US" sz="2000" dirty="0">
                <a:solidFill>
                  <a:srgbClr val="49495A"/>
                </a:solidFill>
                <a:latin typeface="Open Sans" pitchFamily="34" charset="0"/>
                <a:ea typeface="Open Sans" pitchFamily="34" charset="-122"/>
                <a:cs typeface="Open Sans" pitchFamily="34" charset="-120"/>
              </a:rPr>
              <a:t>Se diseñó un flujo de trabajo modular en Google Colab/Python </a:t>
            </a:r>
          </a:p>
          <a:p>
            <a:pPr marL="0" indent="0" algn="l">
              <a:lnSpc>
                <a:spcPct val="150000"/>
              </a:lnSpc>
              <a:buNone/>
            </a:pPr>
            <a:r>
              <a:rPr lang="en-US" sz="2000" dirty="0">
                <a:solidFill>
                  <a:srgbClr val="49495A"/>
                </a:solidFill>
                <a:latin typeface="Open Sans" pitchFamily="34" charset="0"/>
                <a:ea typeface="Open Sans" pitchFamily="34" charset="-122"/>
                <a:cs typeface="Open Sans" pitchFamily="34" charset="-120"/>
              </a:rPr>
              <a:t>para crear un dataset híbrido que combina:</a:t>
            </a:r>
            <a:endParaRPr lang="en-US" sz="2000" dirty="0"/>
          </a:p>
        </p:txBody>
      </p:sp>
      <p:sp>
        <p:nvSpPr>
          <p:cNvPr id="4" name="Text 2"/>
          <p:cNvSpPr/>
          <p:nvPr/>
        </p:nvSpPr>
        <p:spPr>
          <a:xfrm>
            <a:off x="1570786" y="3153656"/>
            <a:ext cx="8735444" cy="359934"/>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49495A"/>
                </a:solidFill>
                <a:latin typeface="Open Sans" pitchFamily="34" charset="0"/>
                <a:ea typeface="Open Sans" pitchFamily="34" charset="-122"/>
                <a:cs typeface="Open Sans" pitchFamily="34" charset="-120"/>
              </a:rPr>
              <a:t>Datos reales de desempeño estudiantil (UCI Student Performance)</a:t>
            </a:r>
            <a:endParaRPr lang="en-US" sz="2000" dirty="0"/>
          </a:p>
        </p:txBody>
      </p:sp>
      <p:sp>
        <p:nvSpPr>
          <p:cNvPr id="5" name="Text 3"/>
          <p:cNvSpPr/>
          <p:nvPr/>
        </p:nvSpPr>
        <p:spPr>
          <a:xfrm>
            <a:off x="1607767" y="3755580"/>
            <a:ext cx="8735444" cy="194667"/>
          </a:xfrm>
          <a:prstGeom prst="rect">
            <a:avLst/>
          </a:prstGeom>
          <a:noFill/>
          <a:ln/>
        </p:spPr>
        <p:txBody>
          <a:bodyPr wrap="none" lIns="0" tIns="0" rIns="0" bIns="0" rtlCol="0" anchor="t"/>
          <a:lstStyle/>
          <a:p>
            <a:pPr marL="342900" indent="-342900" algn="l">
              <a:lnSpc>
                <a:spcPts val="1500"/>
              </a:lnSpc>
              <a:buSzPct val="100000"/>
              <a:buChar char="•"/>
            </a:pPr>
            <a:r>
              <a:rPr lang="en-US" dirty="0">
                <a:solidFill>
                  <a:srgbClr val="49495A"/>
                </a:solidFill>
                <a:latin typeface="Open Sans" pitchFamily="34" charset="0"/>
                <a:ea typeface="Open Sans" pitchFamily="34" charset="-122"/>
                <a:cs typeface="Open Sans" pitchFamily="34" charset="-120"/>
              </a:rPr>
              <a:t>Datos sintéticos que simulan características de estudiantes con TDAH y dislexia</a:t>
            </a:r>
            <a:endParaRPr lang="en-US" dirty="0"/>
          </a:p>
        </p:txBody>
      </p:sp>
      <p:sp>
        <p:nvSpPr>
          <p:cNvPr id="6" name="Text 4"/>
          <p:cNvSpPr/>
          <p:nvPr/>
        </p:nvSpPr>
        <p:spPr>
          <a:xfrm>
            <a:off x="1804321" y="4192237"/>
            <a:ext cx="8103055" cy="1993948"/>
          </a:xfrm>
          <a:prstGeom prst="rect">
            <a:avLst/>
          </a:prstGeom>
          <a:noFill/>
          <a:ln/>
        </p:spPr>
        <p:txBody>
          <a:bodyPr wrap="square" lIns="0" tIns="0" rIns="0" bIns="0" rtlCol="0" anchor="t"/>
          <a:lstStyle/>
          <a:p>
            <a:pPr marL="0" indent="0" algn="just">
              <a:lnSpc>
                <a:spcPts val="1500"/>
              </a:lnSpc>
              <a:buNone/>
            </a:pPr>
            <a:endParaRPr lang="en-US" sz="1600" dirty="0">
              <a:solidFill>
                <a:srgbClr val="49495A"/>
              </a:solidFill>
              <a:latin typeface="Open Sans" pitchFamily="34" charset="0"/>
              <a:ea typeface="Open Sans" pitchFamily="34" charset="-122"/>
              <a:cs typeface="Open Sans" pitchFamily="34" charset="-120"/>
            </a:endParaRPr>
          </a:p>
          <a:p>
            <a:pPr marL="0" indent="0" algn="just">
              <a:lnSpc>
                <a:spcPct val="150000"/>
              </a:lnSpc>
              <a:buNone/>
            </a:pPr>
            <a:r>
              <a:rPr lang="en-US" sz="2000" dirty="0">
                <a:solidFill>
                  <a:srgbClr val="49495A"/>
                </a:solidFill>
                <a:latin typeface="Open Sans" pitchFamily="34" charset="0"/>
                <a:ea typeface="Open Sans" pitchFamily="34" charset="-122"/>
                <a:cs typeface="Open Sans" pitchFamily="34" charset="-120"/>
              </a:rPr>
              <a:t>El proceso incluyó preprocesamiento, generación de </a:t>
            </a:r>
            <a:r>
              <a:rPr lang="en-US" sz="2000" dirty="0" err="1">
                <a:solidFill>
                  <a:srgbClr val="49495A"/>
                </a:solidFill>
                <a:latin typeface="Open Sans" pitchFamily="34" charset="0"/>
                <a:ea typeface="Open Sans" pitchFamily="34" charset="-122"/>
                <a:cs typeface="Open Sans" pitchFamily="34" charset="-120"/>
              </a:rPr>
              <a:t>datos</a:t>
            </a:r>
            <a:r>
              <a:rPr lang="en-US" sz="2000" dirty="0">
                <a:solidFill>
                  <a:srgbClr val="49495A"/>
                </a:solidFill>
                <a:latin typeface="Open Sans" pitchFamily="34" charset="0"/>
                <a:ea typeface="Open Sans" pitchFamily="34" charset="-122"/>
                <a:cs typeface="Open Sans" pitchFamily="34" charset="-120"/>
              </a:rPr>
              <a:t>, combinación del dataset, análisis exploratorio y modelado predictivo con técnicas de Machine Learning.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503759"/>
            <a:ext cx="8066365"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Resultados: Dataset Híbrido</a:t>
            </a:r>
            <a:endParaRPr lang="en-US" sz="4450" dirty="0"/>
          </a:p>
        </p:txBody>
      </p:sp>
      <p:sp>
        <p:nvSpPr>
          <p:cNvPr id="3" name="Text 1"/>
          <p:cNvSpPr/>
          <p:nvPr/>
        </p:nvSpPr>
        <p:spPr>
          <a:xfrm>
            <a:off x="793790" y="2779514"/>
            <a:ext cx="3048000" cy="748427"/>
          </a:xfrm>
          <a:prstGeom prst="rect">
            <a:avLst/>
          </a:prstGeom>
          <a:noFill/>
          <a:ln/>
        </p:spPr>
        <p:txBody>
          <a:bodyPr wrap="none" lIns="0" tIns="0" rIns="0" bIns="0" rtlCol="0" anchor="t"/>
          <a:lstStyle/>
          <a:p>
            <a:pPr marL="0" indent="0" algn="ctr">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1044</a:t>
            </a:r>
            <a:endParaRPr lang="en-US" sz="5850" dirty="0"/>
          </a:p>
        </p:txBody>
      </p:sp>
      <p:sp>
        <p:nvSpPr>
          <p:cNvPr id="4" name="Text 2"/>
          <p:cNvSpPr/>
          <p:nvPr/>
        </p:nvSpPr>
        <p:spPr>
          <a:xfrm>
            <a:off x="900113" y="3811310"/>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Estudiantes Típicos</a:t>
            </a:r>
            <a:endParaRPr lang="en-US" sz="2200" dirty="0"/>
          </a:p>
        </p:txBody>
      </p:sp>
      <p:sp>
        <p:nvSpPr>
          <p:cNvPr id="5" name="Text 3"/>
          <p:cNvSpPr/>
          <p:nvPr/>
        </p:nvSpPr>
        <p:spPr>
          <a:xfrm>
            <a:off x="793790" y="4301728"/>
            <a:ext cx="3048000" cy="1088708"/>
          </a:xfrm>
          <a:prstGeom prst="rect">
            <a:avLst/>
          </a:prstGeom>
          <a:noFill/>
          <a:ln/>
        </p:spPr>
        <p:txBody>
          <a:bodyPr wrap="square" lIns="0" tIns="0" rIns="0" bIns="0" rtlCol="0" anchor="t"/>
          <a:lstStyle/>
          <a:p>
            <a:pPr marL="0" indent="0" algn="ctr">
              <a:lnSpc>
                <a:spcPts val="2850"/>
              </a:lnSpc>
              <a:buNone/>
            </a:pPr>
            <a:r>
              <a:rPr lang="en-US" sz="1750" dirty="0">
                <a:solidFill>
                  <a:srgbClr val="49495A"/>
                </a:solidFill>
                <a:latin typeface="Open Sans" pitchFamily="34" charset="0"/>
                <a:ea typeface="Open Sans" pitchFamily="34" charset="-122"/>
                <a:cs typeface="Open Sans" pitchFamily="34" charset="-120"/>
              </a:rPr>
              <a:t>Datos reales de desempeño estudiantil del dataset UCI Student Performance</a:t>
            </a:r>
            <a:endParaRPr lang="en-US" sz="1750" dirty="0"/>
          </a:p>
        </p:txBody>
      </p:sp>
      <p:sp>
        <p:nvSpPr>
          <p:cNvPr id="6" name="Text 4"/>
          <p:cNvSpPr/>
          <p:nvPr/>
        </p:nvSpPr>
        <p:spPr>
          <a:xfrm>
            <a:off x="4125278" y="2779514"/>
            <a:ext cx="3048119" cy="748427"/>
          </a:xfrm>
          <a:prstGeom prst="rect">
            <a:avLst/>
          </a:prstGeom>
          <a:noFill/>
          <a:ln/>
        </p:spPr>
        <p:txBody>
          <a:bodyPr wrap="none" lIns="0" tIns="0" rIns="0" bIns="0" rtlCol="0" anchor="t"/>
          <a:lstStyle/>
          <a:p>
            <a:pPr marL="0" indent="0" algn="ctr">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62</a:t>
            </a:r>
            <a:endParaRPr lang="en-US" sz="5850" dirty="0"/>
          </a:p>
        </p:txBody>
      </p:sp>
      <p:sp>
        <p:nvSpPr>
          <p:cNvPr id="7" name="Text 5"/>
          <p:cNvSpPr/>
          <p:nvPr/>
        </p:nvSpPr>
        <p:spPr>
          <a:xfrm>
            <a:off x="4125278" y="3811310"/>
            <a:ext cx="3048119" cy="708660"/>
          </a:xfrm>
          <a:prstGeom prst="rect">
            <a:avLst/>
          </a:prstGeom>
          <a:noFill/>
          <a:ln/>
        </p:spPr>
        <p:txBody>
          <a:bodyPr wrap="square" lIns="0" tIns="0" rIns="0" bIns="0" rtlCol="0" anchor="t"/>
          <a:lstStyle/>
          <a:p>
            <a:pPr marL="0" indent="0" algn="ctr">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Estudiantes con TDAH</a:t>
            </a:r>
            <a:endParaRPr lang="en-US" sz="2200" dirty="0"/>
          </a:p>
        </p:txBody>
      </p:sp>
      <p:sp>
        <p:nvSpPr>
          <p:cNvPr id="8" name="Text 6"/>
          <p:cNvSpPr/>
          <p:nvPr/>
        </p:nvSpPr>
        <p:spPr>
          <a:xfrm>
            <a:off x="4125278" y="4656058"/>
            <a:ext cx="3048119" cy="1088708"/>
          </a:xfrm>
          <a:prstGeom prst="rect">
            <a:avLst/>
          </a:prstGeom>
          <a:noFill/>
          <a:ln/>
        </p:spPr>
        <p:txBody>
          <a:bodyPr wrap="square" lIns="0" tIns="0" rIns="0" bIns="0" rtlCol="0" anchor="t"/>
          <a:lstStyle/>
          <a:p>
            <a:pPr marL="0" indent="0" algn="ctr">
              <a:lnSpc>
                <a:spcPts val="2850"/>
              </a:lnSpc>
              <a:buNone/>
            </a:pPr>
            <a:r>
              <a:rPr lang="en-US" sz="1750" dirty="0">
                <a:solidFill>
                  <a:srgbClr val="49495A"/>
                </a:solidFill>
                <a:latin typeface="Open Sans" pitchFamily="34" charset="0"/>
                <a:ea typeface="Open Sans" pitchFamily="34" charset="-122"/>
                <a:cs typeface="Open Sans" pitchFamily="34" charset="-120"/>
              </a:rPr>
              <a:t>Datos sintéticos generados para simular características específicas</a:t>
            </a:r>
            <a:endParaRPr lang="en-US" sz="1750" dirty="0"/>
          </a:p>
        </p:txBody>
      </p:sp>
      <p:sp>
        <p:nvSpPr>
          <p:cNvPr id="9" name="Text 7"/>
          <p:cNvSpPr/>
          <p:nvPr/>
        </p:nvSpPr>
        <p:spPr>
          <a:xfrm>
            <a:off x="7456884" y="2779514"/>
            <a:ext cx="3048119" cy="748427"/>
          </a:xfrm>
          <a:prstGeom prst="rect">
            <a:avLst/>
          </a:prstGeom>
          <a:noFill/>
          <a:ln/>
        </p:spPr>
        <p:txBody>
          <a:bodyPr wrap="none" lIns="0" tIns="0" rIns="0" bIns="0" rtlCol="0" anchor="t"/>
          <a:lstStyle/>
          <a:p>
            <a:pPr marL="0" indent="0" algn="ctr">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125</a:t>
            </a:r>
            <a:endParaRPr lang="en-US" sz="5850" dirty="0"/>
          </a:p>
        </p:txBody>
      </p:sp>
      <p:sp>
        <p:nvSpPr>
          <p:cNvPr id="10" name="Text 8"/>
          <p:cNvSpPr/>
          <p:nvPr/>
        </p:nvSpPr>
        <p:spPr>
          <a:xfrm>
            <a:off x="7456884" y="3811310"/>
            <a:ext cx="3048119" cy="708660"/>
          </a:xfrm>
          <a:prstGeom prst="rect">
            <a:avLst/>
          </a:prstGeom>
          <a:noFill/>
          <a:ln/>
        </p:spPr>
        <p:txBody>
          <a:bodyPr wrap="square" lIns="0" tIns="0" rIns="0" bIns="0" rtlCol="0" anchor="t"/>
          <a:lstStyle/>
          <a:p>
            <a:pPr marL="0" indent="0" algn="ctr">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Estudiantes con Dislexia</a:t>
            </a:r>
            <a:endParaRPr lang="en-US" sz="2200" dirty="0"/>
          </a:p>
        </p:txBody>
      </p:sp>
      <p:sp>
        <p:nvSpPr>
          <p:cNvPr id="11" name="Text 9"/>
          <p:cNvSpPr/>
          <p:nvPr/>
        </p:nvSpPr>
        <p:spPr>
          <a:xfrm>
            <a:off x="7456884" y="4656058"/>
            <a:ext cx="3048119" cy="725805"/>
          </a:xfrm>
          <a:prstGeom prst="rect">
            <a:avLst/>
          </a:prstGeom>
          <a:noFill/>
          <a:ln/>
        </p:spPr>
        <p:txBody>
          <a:bodyPr wrap="square" lIns="0" tIns="0" rIns="0" bIns="0" rtlCol="0" anchor="t"/>
          <a:lstStyle/>
          <a:p>
            <a:pPr marL="0" indent="0" algn="ctr">
              <a:lnSpc>
                <a:spcPts val="2850"/>
              </a:lnSpc>
              <a:buNone/>
            </a:pPr>
            <a:r>
              <a:rPr lang="en-US" sz="1750" dirty="0">
                <a:solidFill>
                  <a:srgbClr val="49495A"/>
                </a:solidFill>
                <a:latin typeface="Open Sans" pitchFamily="34" charset="0"/>
                <a:ea typeface="Open Sans" pitchFamily="34" charset="-122"/>
                <a:cs typeface="Open Sans" pitchFamily="34" charset="-120"/>
              </a:rPr>
              <a:t>Datos sintéticos basados en patrones clínicos reportados</a:t>
            </a:r>
            <a:endParaRPr lang="en-US" sz="1750" dirty="0"/>
          </a:p>
        </p:txBody>
      </p:sp>
      <p:sp>
        <p:nvSpPr>
          <p:cNvPr id="12" name="Text 10"/>
          <p:cNvSpPr/>
          <p:nvPr/>
        </p:nvSpPr>
        <p:spPr>
          <a:xfrm>
            <a:off x="10788491" y="2779514"/>
            <a:ext cx="3048119" cy="748427"/>
          </a:xfrm>
          <a:prstGeom prst="rect">
            <a:avLst/>
          </a:prstGeom>
          <a:noFill/>
          <a:ln/>
        </p:spPr>
        <p:txBody>
          <a:bodyPr wrap="none" lIns="0" tIns="0" rIns="0" bIns="0" rtlCol="0" anchor="t"/>
          <a:lstStyle/>
          <a:p>
            <a:pPr marL="0" indent="0" algn="ctr">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1231</a:t>
            </a:r>
            <a:endParaRPr lang="en-US" sz="5850" dirty="0"/>
          </a:p>
        </p:txBody>
      </p:sp>
      <p:sp>
        <p:nvSpPr>
          <p:cNvPr id="13" name="Text 11"/>
          <p:cNvSpPr/>
          <p:nvPr/>
        </p:nvSpPr>
        <p:spPr>
          <a:xfrm>
            <a:off x="10894933" y="3811310"/>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Total de Registros</a:t>
            </a:r>
            <a:endParaRPr lang="en-US" sz="2200" dirty="0"/>
          </a:p>
        </p:txBody>
      </p:sp>
      <p:sp>
        <p:nvSpPr>
          <p:cNvPr id="14" name="Text 12"/>
          <p:cNvSpPr/>
          <p:nvPr/>
        </p:nvSpPr>
        <p:spPr>
          <a:xfrm>
            <a:off x="10788491" y="4301728"/>
            <a:ext cx="3048119" cy="725805"/>
          </a:xfrm>
          <a:prstGeom prst="rect">
            <a:avLst/>
          </a:prstGeom>
          <a:noFill/>
          <a:ln/>
        </p:spPr>
        <p:txBody>
          <a:bodyPr wrap="square" lIns="0" tIns="0" rIns="0" bIns="0" rtlCol="0" anchor="t"/>
          <a:lstStyle/>
          <a:p>
            <a:pPr marL="0" indent="0" algn="ctr">
              <a:lnSpc>
                <a:spcPts val="2850"/>
              </a:lnSpc>
              <a:buNone/>
            </a:pPr>
            <a:r>
              <a:rPr lang="en-US" sz="1750" dirty="0">
                <a:solidFill>
                  <a:srgbClr val="49495A"/>
                </a:solidFill>
                <a:latin typeface="Open Sans" pitchFamily="34" charset="0"/>
                <a:ea typeface="Open Sans" pitchFamily="34" charset="-122"/>
                <a:cs typeface="Open Sans" pitchFamily="34" charset="-120"/>
              </a:rPr>
              <a:t>Dataset híbrido completo para análisis y modelado</a:t>
            </a:r>
            <a:endParaRPr lang="en-US" sz="1750" dirty="0"/>
          </a:p>
        </p:txBody>
      </p:sp>
      <p:sp>
        <p:nvSpPr>
          <p:cNvPr id="15" name="Text 13"/>
          <p:cNvSpPr/>
          <p:nvPr/>
        </p:nvSpPr>
        <p:spPr>
          <a:xfrm>
            <a:off x="793790" y="599991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Este enfoque permitió analizar diferencias entre grupos típicos y con necesidades educativas especiales bajo condiciones controladas y realistas.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79966" y="534233"/>
            <a:ext cx="5218390" cy="607219"/>
          </a:xfrm>
          <a:prstGeom prst="rect">
            <a:avLst/>
          </a:prstGeom>
          <a:noFill/>
          <a:ln/>
        </p:spPr>
        <p:txBody>
          <a:bodyPr wrap="none" lIns="0" tIns="0" rIns="0" bIns="0" rtlCol="0" anchor="t"/>
          <a:lstStyle/>
          <a:p>
            <a:pPr marL="0" indent="0" algn="l">
              <a:lnSpc>
                <a:spcPts val="4750"/>
              </a:lnSpc>
              <a:buNone/>
            </a:pPr>
            <a:r>
              <a:rPr lang="en-US" sz="3800" dirty="0">
                <a:solidFill>
                  <a:srgbClr val="403CCF"/>
                </a:solidFill>
                <a:latin typeface="Libre Baskerville" pitchFamily="34" charset="0"/>
                <a:ea typeface="Libre Baskerville" pitchFamily="34" charset="-122"/>
                <a:cs typeface="Libre Baskerville" pitchFamily="34" charset="-120"/>
              </a:rPr>
              <a:t>Análisis Exploratorio</a:t>
            </a:r>
            <a:endParaRPr lang="en-US" sz="3800" dirty="0"/>
          </a:p>
        </p:txBody>
      </p:sp>
      <p:pic>
        <p:nvPicPr>
          <p:cNvPr id="3" name="Image 0" descr="preencoded.png"/>
          <p:cNvPicPr>
            <a:picLocks noChangeAspect="1"/>
          </p:cNvPicPr>
          <p:nvPr/>
        </p:nvPicPr>
        <p:blipFill>
          <a:blip r:embed="rId3"/>
          <a:stretch>
            <a:fillRect/>
          </a:stretch>
        </p:blipFill>
        <p:spPr>
          <a:xfrm>
            <a:off x="679966" y="1651278"/>
            <a:ext cx="6398300" cy="4846439"/>
          </a:xfrm>
          <a:prstGeom prst="rect">
            <a:avLst/>
          </a:prstGeom>
        </p:spPr>
      </p:pic>
      <p:sp>
        <p:nvSpPr>
          <p:cNvPr id="4" name="Text 1"/>
          <p:cNvSpPr/>
          <p:nvPr/>
        </p:nvSpPr>
        <p:spPr>
          <a:xfrm>
            <a:off x="679966" y="6716197"/>
            <a:ext cx="6398300" cy="1243489"/>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El histograma muestra que los estudiantes típicos presentan mayor concentración de notas en el rango medio-alto, mientras que los grupos con TDAH y dislexia tienden a concentrarse en rangos más bajos.</a:t>
            </a:r>
            <a:endParaRPr lang="en-US" sz="1500" dirty="0"/>
          </a:p>
        </p:txBody>
      </p:sp>
      <p:pic>
        <p:nvPicPr>
          <p:cNvPr id="5" name="Image 1" descr="preencoded.png"/>
          <p:cNvPicPr>
            <a:picLocks noChangeAspect="1"/>
          </p:cNvPicPr>
          <p:nvPr/>
        </p:nvPicPr>
        <p:blipFill>
          <a:blip r:embed="rId4"/>
          <a:stretch>
            <a:fillRect/>
          </a:stretch>
        </p:blipFill>
        <p:spPr>
          <a:xfrm>
            <a:off x="7559754" y="1651278"/>
            <a:ext cx="6179820" cy="4511040"/>
          </a:xfrm>
          <a:prstGeom prst="rect">
            <a:avLst/>
          </a:prstGeom>
        </p:spPr>
      </p:pic>
      <p:sp>
        <p:nvSpPr>
          <p:cNvPr id="6" name="Text 2"/>
          <p:cNvSpPr/>
          <p:nvPr/>
        </p:nvSpPr>
        <p:spPr>
          <a:xfrm>
            <a:off x="7559754" y="6380798"/>
            <a:ext cx="6398300" cy="932617"/>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El boxplot revela que tanto los estudiantes con TDAH como los que presentan dislexia tienen una mediana de notas finales (G3) inferior a la de los estudiantes típicos.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82241" y="615791"/>
            <a:ext cx="8731806" cy="698421"/>
          </a:xfrm>
          <a:prstGeom prst="rect">
            <a:avLst/>
          </a:prstGeom>
          <a:noFill/>
          <a:ln/>
        </p:spPr>
        <p:txBody>
          <a:bodyPr wrap="none" lIns="0" tIns="0" rIns="0" bIns="0" rtlCol="0" anchor="t"/>
          <a:lstStyle/>
          <a:p>
            <a:r>
              <a:rPr lang="es-MX"/>
              <a:t>Título del proyecto</a:t>
            </a:r>
          </a:p>
          <a:p>
            <a:r>
              <a:rPr lang="es-MX"/>
              <a:t>Nombre completo de todos los integrantes</a:t>
            </a:r>
          </a:p>
          <a:p>
            <a:r>
              <a:rPr lang="es-MX"/>
              <a:t>Fecha de entrega</a:t>
            </a:r>
          </a:p>
          <a:p>
            <a:r>
              <a:rPr lang="es-MX"/>
              <a:t>Repositorio de código fuente y QR Code</a:t>
            </a:r>
          </a:p>
          <a:p>
            <a:r>
              <a:rPr lang="es-MX"/>
              <a:t>Trello Board</a:t>
            </a:r>
          </a:p>
        </p:txBody>
      </p:sp>
      <p:sp>
        <p:nvSpPr>
          <p:cNvPr id="3" name="Text 1"/>
          <p:cNvSpPr/>
          <p:nvPr/>
        </p:nvSpPr>
        <p:spPr>
          <a:xfrm>
            <a:off x="1492091" y="3213854"/>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86%</a:t>
            </a:r>
            <a:endParaRPr lang="en-US" sz="4350" dirty="0"/>
          </a:p>
        </p:txBody>
      </p:sp>
      <p:pic>
        <p:nvPicPr>
          <p:cNvPr id="4" name="Image 0" descr="preencoded.png"/>
          <p:cNvPicPr>
            <a:picLocks noChangeAspect="1"/>
          </p:cNvPicPr>
          <p:nvPr/>
        </p:nvPicPr>
        <p:blipFill>
          <a:blip r:embed="rId3"/>
          <a:stretch>
            <a:fillRect/>
          </a:stretch>
        </p:blipFill>
        <p:spPr>
          <a:xfrm>
            <a:off x="1190387" y="1817013"/>
            <a:ext cx="3352681" cy="3352681"/>
          </a:xfrm>
          <a:prstGeom prst="rect">
            <a:avLst/>
          </a:prstGeom>
        </p:spPr>
      </p:pic>
      <p:sp>
        <p:nvSpPr>
          <p:cNvPr id="5" name="Text 2"/>
          <p:cNvSpPr/>
          <p:nvPr/>
        </p:nvSpPr>
        <p:spPr>
          <a:xfrm>
            <a:off x="1469827" y="5449014"/>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Random Forest</a:t>
            </a:r>
            <a:endParaRPr lang="en-US" sz="2150" dirty="0"/>
          </a:p>
        </p:txBody>
      </p:sp>
      <p:sp>
        <p:nvSpPr>
          <p:cNvPr id="6" name="Text 3"/>
          <p:cNvSpPr/>
          <p:nvPr/>
        </p:nvSpPr>
        <p:spPr>
          <a:xfrm>
            <a:off x="782241" y="5932289"/>
            <a:ext cx="4169093" cy="715089"/>
          </a:xfrm>
          <a:prstGeom prst="rect">
            <a:avLst/>
          </a:prstGeom>
          <a:noFill/>
          <a:ln/>
        </p:spPr>
        <p:txBody>
          <a:bodyPr wrap="square" lIns="0" tIns="0" rIns="0" bIns="0" rtlCol="0" anchor="t"/>
          <a:lstStyle/>
          <a:p>
            <a:pPr marL="0" indent="0" algn="ctr">
              <a:lnSpc>
                <a:spcPts val="2800"/>
              </a:lnSpc>
              <a:buNone/>
            </a:pPr>
            <a:r>
              <a:rPr lang="en-US" sz="1750" dirty="0">
                <a:solidFill>
                  <a:srgbClr val="49495A"/>
                </a:solidFill>
                <a:latin typeface="Open Sans" pitchFamily="34" charset="0"/>
                <a:ea typeface="Open Sans" pitchFamily="34" charset="-122"/>
                <a:cs typeface="Open Sans" pitchFamily="34" charset="-120"/>
              </a:rPr>
              <a:t>R² = 0.860, RMSE = 1.602 (mejor modelo)</a:t>
            </a:r>
            <a:endParaRPr lang="en-US" sz="1750" dirty="0"/>
          </a:p>
        </p:txBody>
      </p:sp>
      <p:sp>
        <p:nvSpPr>
          <p:cNvPr id="7" name="Text 4"/>
          <p:cNvSpPr/>
          <p:nvPr/>
        </p:nvSpPr>
        <p:spPr>
          <a:xfrm>
            <a:off x="5940504" y="3213854"/>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85.8%</a:t>
            </a:r>
            <a:endParaRPr lang="en-US" sz="4350" dirty="0"/>
          </a:p>
        </p:txBody>
      </p:sp>
      <p:pic>
        <p:nvPicPr>
          <p:cNvPr id="8" name="Image 1" descr="preencoded.png"/>
          <p:cNvPicPr>
            <a:picLocks noChangeAspect="1"/>
          </p:cNvPicPr>
          <p:nvPr/>
        </p:nvPicPr>
        <p:blipFill>
          <a:blip r:embed="rId4"/>
          <a:stretch>
            <a:fillRect/>
          </a:stretch>
        </p:blipFill>
        <p:spPr>
          <a:xfrm>
            <a:off x="5638800" y="1817013"/>
            <a:ext cx="3352681" cy="3352681"/>
          </a:xfrm>
          <a:prstGeom prst="rect">
            <a:avLst/>
          </a:prstGeom>
        </p:spPr>
      </p:pic>
      <p:sp>
        <p:nvSpPr>
          <p:cNvPr id="9" name="Text 5"/>
          <p:cNvSpPr/>
          <p:nvPr/>
        </p:nvSpPr>
        <p:spPr>
          <a:xfrm>
            <a:off x="5918240" y="5449014"/>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Gradient Boosting</a:t>
            </a:r>
            <a:endParaRPr lang="en-US" sz="2150" dirty="0"/>
          </a:p>
        </p:txBody>
      </p:sp>
      <p:sp>
        <p:nvSpPr>
          <p:cNvPr id="10" name="Text 6"/>
          <p:cNvSpPr/>
          <p:nvPr/>
        </p:nvSpPr>
        <p:spPr>
          <a:xfrm>
            <a:off x="5230654" y="5932289"/>
            <a:ext cx="4169093" cy="357545"/>
          </a:xfrm>
          <a:prstGeom prst="rect">
            <a:avLst/>
          </a:prstGeom>
          <a:noFill/>
          <a:ln/>
        </p:spPr>
        <p:txBody>
          <a:bodyPr wrap="none" lIns="0" tIns="0" rIns="0" bIns="0" rtlCol="0" anchor="t"/>
          <a:lstStyle/>
          <a:p>
            <a:pPr marL="0" indent="0" algn="ctr">
              <a:lnSpc>
                <a:spcPts val="2800"/>
              </a:lnSpc>
              <a:buNone/>
            </a:pPr>
            <a:r>
              <a:rPr lang="en-US" sz="1750" dirty="0">
                <a:solidFill>
                  <a:srgbClr val="49495A"/>
                </a:solidFill>
                <a:latin typeface="Open Sans" pitchFamily="34" charset="0"/>
                <a:ea typeface="Open Sans" pitchFamily="34" charset="-122"/>
                <a:cs typeface="Open Sans" pitchFamily="34" charset="-120"/>
              </a:rPr>
              <a:t>R² = 0.858, RMSE = 1.610</a:t>
            </a:r>
            <a:endParaRPr lang="en-US" sz="1750" dirty="0"/>
          </a:p>
        </p:txBody>
      </p:sp>
      <p:sp>
        <p:nvSpPr>
          <p:cNvPr id="11" name="Text 7"/>
          <p:cNvSpPr/>
          <p:nvPr/>
        </p:nvSpPr>
        <p:spPr>
          <a:xfrm>
            <a:off x="10388918" y="3213854"/>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81.1%</a:t>
            </a:r>
            <a:endParaRPr lang="en-US" sz="4350" dirty="0"/>
          </a:p>
        </p:txBody>
      </p:sp>
      <p:pic>
        <p:nvPicPr>
          <p:cNvPr id="12" name="Image 2" descr="preencoded.png"/>
          <p:cNvPicPr>
            <a:picLocks noChangeAspect="1"/>
          </p:cNvPicPr>
          <p:nvPr/>
        </p:nvPicPr>
        <p:blipFill>
          <a:blip r:embed="rId5"/>
          <a:stretch>
            <a:fillRect/>
          </a:stretch>
        </p:blipFill>
        <p:spPr>
          <a:xfrm>
            <a:off x="10087213" y="1817013"/>
            <a:ext cx="3352681" cy="3352681"/>
          </a:xfrm>
          <a:prstGeom prst="rect">
            <a:avLst/>
          </a:prstGeom>
        </p:spPr>
      </p:pic>
      <p:sp>
        <p:nvSpPr>
          <p:cNvPr id="13" name="Text 8"/>
          <p:cNvSpPr/>
          <p:nvPr/>
        </p:nvSpPr>
        <p:spPr>
          <a:xfrm>
            <a:off x="10366653" y="5449014"/>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Regresión Lineal</a:t>
            </a:r>
            <a:endParaRPr lang="en-US" sz="2150" dirty="0"/>
          </a:p>
        </p:txBody>
      </p:sp>
      <p:sp>
        <p:nvSpPr>
          <p:cNvPr id="14" name="Text 9"/>
          <p:cNvSpPr/>
          <p:nvPr/>
        </p:nvSpPr>
        <p:spPr>
          <a:xfrm>
            <a:off x="9679067" y="5932289"/>
            <a:ext cx="4169093" cy="357545"/>
          </a:xfrm>
          <a:prstGeom prst="rect">
            <a:avLst/>
          </a:prstGeom>
          <a:noFill/>
          <a:ln/>
        </p:spPr>
        <p:txBody>
          <a:bodyPr wrap="none" lIns="0" tIns="0" rIns="0" bIns="0" rtlCol="0" anchor="t"/>
          <a:lstStyle/>
          <a:p>
            <a:pPr marL="0" indent="0" algn="ctr">
              <a:lnSpc>
                <a:spcPts val="2800"/>
              </a:lnSpc>
              <a:buNone/>
            </a:pPr>
            <a:r>
              <a:rPr lang="en-US" sz="1750" dirty="0">
                <a:solidFill>
                  <a:srgbClr val="49495A"/>
                </a:solidFill>
                <a:latin typeface="Open Sans" pitchFamily="34" charset="0"/>
                <a:ea typeface="Open Sans" pitchFamily="34" charset="-122"/>
                <a:cs typeface="Open Sans" pitchFamily="34" charset="-120"/>
              </a:rPr>
              <a:t>R² = 0.811, RMSE = 1.860</a:t>
            </a:r>
            <a:endParaRPr lang="en-US" sz="1750" dirty="0"/>
          </a:p>
        </p:txBody>
      </p:sp>
      <p:sp>
        <p:nvSpPr>
          <p:cNvPr id="15" name="Text 10"/>
          <p:cNvSpPr/>
          <p:nvPr/>
        </p:nvSpPr>
        <p:spPr>
          <a:xfrm>
            <a:off x="782241" y="6898719"/>
            <a:ext cx="13065919" cy="715089"/>
          </a:xfrm>
          <a:prstGeom prst="rect">
            <a:avLst/>
          </a:prstGeom>
          <a:noFill/>
          <a:ln/>
        </p:spPr>
        <p:txBody>
          <a:bodyPr wrap="square" lIns="0" tIns="0" rIns="0" bIns="0" rtlCol="0" anchor="t"/>
          <a:lstStyle/>
          <a:p>
            <a:pPr marL="0" indent="0" algn="l">
              <a:lnSpc>
                <a:spcPts val="2800"/>
              </a:lnSpc>
              <a:buNone/>
            </a:pPr>
            <a:r>
              <a:rPr lang="en-US" sz="1750" dirty="0">
                <a:solidFill>
                  <a:srgbClr val="49495A"/>
                </a:solidFill>
                <a:latin typeface="Open Sans" pitchFamily="34" charset="0"/>
                <a:ea typeface="Open Sans" pitchFamily="34" charset="-122"/>
                <a:cs typeface="Open Sans" pitchFamily="34" charset="-120"/>
              </a:rPr>
              <a:t>Variables más importantes para la predicción: notas anteriores (G2, G1), ausencias, salidas sociales (goout) y salud. El rendimiento previo y la asistencia son los factores más determinantes para predecir el éxito académico.</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98358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Conclusiones</a:t>
            </a:r>
            <a:endParaRPr lang="en-US" sz="4450" dirty="0"/>
          </a:p>
        </p:txBody>
      </p:sp>
      <p:sp>
        <p:nvSpPr>
          <p:cNvPr id="3" name="Shape 1"/>
          <p:cNvSpPr/>
          <p:nvPr/>
        </p:nvSpPr>
        <p:spPr>
          <a:xfrm>
            <a:off x="793790" y="3145988"/>
            <a:ext cx="510302" cy="510302"/>
          </a:xfrm>
          <a:prstGeom prst="roundRect">
            <a:avLst>
              <a:gd name="adj" fmla="val 6667"/>
            </a:avLst>
          </a:prstGeom>
          <a:solidFill>
            <a:srgbClr val="EAE8F3"/>
          </a:solidFill>
          <a:ln/>
        </p:spPr>
      </p:sp>
      <p:sp>
        <p:nvSpPr>
          <p:cNvPr id="4" name="Text 2"/>
          <p:cNvSpPr/>
          <p:nvPr/>
        </p:nvSpPr>
        <p:spPr>
          <a:xfrm>
            <a:off x="1530906" y="3223855"/>
            <a:ext cx="3421499"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Factibilidad Demostrada</a:t>
            </a:r>
            <a:endParaRPr lang="en-US" sz="2200" dirty="0"/>
          </a:p>
        </p:txBody>
      </p:sp>
      <p:sp>
        <p:nvSpPr>
          <p:cNvPr id="5" name="Text 3"/>
          <p:cNvSpPr/>
          <p:nvPr/>
        </p:nvSpPr>
        <p:spPr>
          <a:xfrm>
            <a:off x="1530906" y="4068604"/>
            <a:ext cx="3421499" cy="217741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Es factible la implementación de un tutor inteligente ya que se tienen las bases tecnológicas, herramientas de análisis de datos y predicción necesarios para continuar con el proyecto.</a:t>
            </a:r>
            <a:endParaRPr lang="en-US" sz="1750" dirty="0"/>
          </a:p>
        </p:txBody>
      </p:sp>
      <p:sp>
        <p:nvSpPr>
          <p:cNvPr id="6" name="Shape 4"/>
          <p:cNvSpPr/>
          <p:nvPr/>
        </p:nvSpPr>
        <p:spPr>
          <a:xfrm>
            <a:off x="5235893" y="3145988"/>
            <a:ext cx="510302" cy="510302"/>
          </a:xfrm>
          <a:prstGeom prst="roundRect">
            <a:avLst>
              <a:gd name="adj" fmla="val 6667"/>
            </a:avLst>
          </a:prstGeom>
          <a:solidFill>
            <a:srgbClr val="EAE8F3"/>
          </a:solidFill>
          <a:ln/>
        </p:spPr>
      </p:sp>
      <p:sp>
        <p:nvSpPr>
          <p:cNvPr id="7" name="Text 5"/>
          <p:cNvSpPr/>
          <p:nvPr/>
        </p:nvSpPr>
        <p:spPr>
          <a:xfrm>
            <a:off x="5973008" y="3223855"/>
            <a:ext cx="3421499"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Efectividad de Datasets Mixtos</a:t>
            </a:r>
            <a:endParaRPr lang="en-US" sz="2200" dirty="0"/>
          </a:p>
        </p:txBody>
      </p:sp>
      <p:sp>
        <p:nvSpPr>
          <p:cNvPr id="8" name="Text 6"/>
          <p:cNvSpPr/>
          <p:nvPr/>
        </p:nvSpPr>
        <p:spPr>
          <a:xfrm>
            <a:off x="5973008" y="4068604"/>
            <a:ext cx="3421499"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El uso de datasets mixtos (sintéticos y simulados) permitió simular perfiles de estudiantes variados con un nivel aceptable para el análisis y predicción.</a:t>
            </a:r>
            <a:endParaRPr lang="en-US" sz="1750" dirty="0"/>
          </a:p>
        </p:txBody>
      </p:sp>
      <p:sp>
        <p:nvSpPr>
          <p:cNvPr id="9" name="Shape 7"/>
          <p:cNvSpPr/>
          <p:nvPr/>
        </p:nvSpPr>
        <p:spPr>
          <a:xfrm>
            <a:off x="9677995" y="3145988"/>
            <a:ext cx="510302" cy="510302"/>
          </a:xfrm>
          <a:prstGeom prst="roundRect">
            <a:avLst>
              <a:gd name="adj" fmla="val 6667"/>
            </a:avLst>
          </a:prstGeom>
          <a:solidFill>
            <a:srgbClr val="EAE8F3"/>
          </a:solidFill>
          <a:ln/>
        </p:spPr>
      </p:sp>
      <p:sp>
        <p:nvSpPr>
          <p:cNvPr id="10" name="Text 8"/>
          <p:cNvSpPr/>
          <p:nvPr/>
        </p:nvSpPr>
        <p:spPr>
          <a:xfrm>
            <a:off x="10415111" y="3223855"/>
            <a:ext cx="3421499"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Modelos Simples pero Efectivos</a:t>
            </a:r>
            <a:endParaRPr lang="en-US" sz="2200" dirty="0"/>
          </a:p>
        </p:txBody>
      </p:sp>
      <p:sp>
        <p:nvSpPr>
          <p:cNvPr id="11" name="Text 9"/>
          <p:cNvSpPr/>
          <p:nvPr/>
        </p:nvSpPr>
        <p:spPr>
          <a:xfrm>
            <a:off x="10415111" y="4068604"/>
            <a:ext cx="3421499" cy="217741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Se evidenció que modelos de machine learning simples son suficientes para clasificar estudiantes en riesgo académico siempre y cuando estén bien entrenados.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57820" y="516850"/>
            <a:ext cx="4699040" cy="587335"/>
          </a:xfrm>
          <a:prstGeom prst="rect">
            <a:avLst/>
          </a:prstGeom>
          <a:noFill/>
          <a:ln/>
        </p:spPr>
        <p:txBody>
          <a:bodyPr wrap="none" lIns="0" tIns="0" rIns="0" bIns="0" rtlCol="0" anchor="t"/>
          <a:lstStyle/>
          <a:p>
            <a:pPr marL="0" indent="0" algn="l">
              <a:lnSpc>
                <a:spcPts val="4600"/>
              </a:lnSpc>
              <a:buNone/>
            </a:pPr>
            <a:r>
              <a:rPr lang="en-US" sz="3700" dirty="0">
                <a:solidFill>
                  <a:srgbClr val="403CCF"/>
                </a:solidFill>
                <a:latin typeface="Libre Baskerville" pitchFamily="34" charset="0"/>
                <a:ea typeface="Libre Baskerville" pitchFamily="34" charset="-122"/>
                <a:cs typeface="Libre Baskerville" pitchFamily="34" charset="-120"/>
              </a:rPr>
              <a:t>Recomendaciones</a:t>
            </a:r>
            <a:endParaRPr lang="en-US" sz="3700" dirty="0"/>
          </a:p>
        </p:txBody>
      </p:sp>
      <p:sp>
        <p:nvSpPr>
          <p:cNvPr id="3" name="Shape 1"/>
          <p:cNvSpPr/>
          <p:nvPr/>
        </p:nvSpPr>
        <p:spPr>
          <a:xfrm>
            <a:off x="657820" y="1597581"/>
            <a:ext cx="6428184" cy="1504474"/>
          </a:xfrm>
          <a:prstGeom prst="roundRect">
            <a:avLst>
              <a:gd name="adj" fmla="val 1874"/>
            </a:avLst>
          </a:prstGeom>
          <a:noFill/>
          <a:ln w="22860">
            <a:solidFill>
              <a:srgbClr val="D0CED9"/>
            </a:solidFill>
            <a:prstDash val="solid"/>
          </a:ln>
        </p:spPr>
      </p:sp>
      <p:sp>
        <p:nvSpPr>
          <p:cNvPr id="4" name="Text 2"/>
          <p:cNvSpPr/>
          <p:nvPr/>
        </p:nvSpPr>
        <p:spPr>
          <a:xfrm>
            <a:off x="868561" y="1808321"/>
            <a:ext cx="2371963" cy="293608"/>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Modelos Avanzados</a:t>
            </a:r>
            <a:endParaRPr lang="en-US" sz="1850" dirty="0"/>
          </a:p>
        </p:txBody>
      </p:sp>
      <p:sp>
        <p:nvSpPr>
          <p:cNvPr id="5" name="Text 3"/>
          <p:cNvSpPr/>
          <p:nvPr/>
        </p:nvSpPr>
        <p:spPr>
          <a:xfrm>
            <a:off x="868561" y="2289810"/>
            <a:ext cx="6006703" cy="601504"/>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Utilizar modelos de aprendizaje profundo (deep learning) para acceder a datasets más amplios y personalizados.</a:t>
            </a:r>
            <a:endParaRPr lang="en-US" sz="1450" dirty="0"/>
          </a:p>
        </p:txBody>
      </p:sp>
      <p:sp>
        <p:nvSpPr>
          <p:cNvPr id="6" name="Shape 4"/>
          <p:cNvSpPr/>
          <p:nvPr/>
        </p:nvSpPr>
        <p:spPr>
          <a:xfrm>
            <a:off x="657820" y="3289935"/>
            <a:ext cx="6428184" cy="1504474"/>
          </a:xfrm>
          <a:prstGeom prst="roundRect">
            <a:avLst>
              <a:gd name="adj" fmla="val 1874"/>
            </a:avLst>
          </a:prstGeom>
          <a:noFill/>
          <a:ln w="22860">
            <a:solidFill>
              <a:srgbClr val="D0CED9"/>
            </a:solidFill>
            <a:prstDash val="solid"/>
          </a:ln>
        </p:spPr>
      </p:sp>
      <p:sp>
        <p:nvSpPr>
          <p:cNvPr id="7" name="Text 5"/>
          <p:cNvSpPr/>
          <p:nvPr/>
        </p:nvSpPr>
        <p:spPr>
          <a:xfrm>
            <a:off x="868561" y="3500676"/>
            <a:ext cx="3749516" cy="293608"/>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Pruebas con Estudiantes Reales</a:t>
            </a:r>
            <a:endParaRPr lang="en-US" sz="1850" dirty="0"/>
          </a:p>
        </p:txBody>
      </p:sp>
      <p:sp>
        <p:nvSpPr>
          <p:cNvPr id="8" name="Text 6"/>
          <p:cNvSpPr/>
          <p:nvPr/>
        </p:nvSpPr>
        <p:spPr>
          <a:xfrm>
            <a:off x="868561" y="3982164"/>
            <a:ext cx="6006703" cy="601504"/>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Verificar el funcionamiento del sistema con una muestra de estudiantes reales que presenten TDA para medir su efectividad.</a:t>
            </a:r>
            <a:endParaRPr lang="en-US" sz="1450" dirty="0"/>
          </a:p>
        </p:txBody>
      </p:sp>
      <p:sp>
        <p:nvSpPr>
          <p:cNvPr id="9" name="Shape 7"/>
          <p:cNvSpPr/>
          <p:nvPr/>
        </p:nvSpPr>
        <p:spPr>
          <a:xfrm>
            <a:off x="657820" y="4982289"/>
            <a:ext cx="6428184" cy="1504474"/>
          </a:xfrm>
          <a:prstGeom prst="roundRect">
            <a:avLst>
              <a:gd name="adj" fmla="val 1874"/>
            </a:avLst>
          </a:prstGeom>
          <a:noFill/>
          <a:ln w="22860">
            <a:solidFill>
              <a:srgbClr val="D0CED9"/>
            </a:solidFill>
            <a:prstDash val="solid"/>
          </a:ln>
        </p:spPr>
      </p:sp>
      <p:sp>
        <p:nvSpPr>
          <p:cNvPr id="10" name="Text 8"/>
          <p:cNvSpPr/>
          <p:nvPr/>
        </p:nvSpPr>
        <p:spPr>
          <a:xfrm>
            <a:off x="868561" y="5193030"/>
            <a:ext cx="3617238" cy="293608"/>
          </a:xfrm>
          <a:prstGeom prst="rect">
            <a:avLst/>
          </a:prstGeom>
          <a:noFill/>
          <a:ln/>
        </p:spPr>
        <p:txBody>
          <a:bodyPr wrap="none" lIns="0" tIns="0" rIns="0" bIns="0" rtlCol="0" anchor="t"/>
          <a:lstStyle/>
          <a:p>
            <a:pPr marL="0" indent="0" algn="l">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Retroalimentación Emocional</a:t>
            </a:r>
            <a:endParaRPr lang="en-US" sz="1850" dirty="0"/>
          </a:p>
        </p:txBody>
      </p:sp>
      <p:sp>
        <p:nvSpPr>
          <p:cNvPr id="11" name="Text 9"/>
          <p:cNvSpPr/>
          <p:nvPr/>
        </p:nvSpPr>
        <p:spPr>
          <a:xfrm>
            <a:off x="868561" y="5674519"/>
            <a:ext cx="6006703" cy="601504"/>
          </a:xfrm>
          <a:prstGeom prst="rect">
            <a:avLst/>
          </a:prstGeom>
          <a:noFill/>
          <a:ln/>
        </p:spPr>
        <p:txBody>
          <a:bodyPr wrap="square" lIns="0" tIns="0" rIns="0" bIns="0" rtlCol="0" anchor="t"/>
          <a:lstStyle/>
          <a:p>
            <a:pPr marL="0" indent="0" algn="l">
              <a:lnSpc>
                <a:spcPts val="2350"/>
              </a:lnSpc>
              <a:buNone/>
            </a:pPr>
            <a:r>
              <a:rPr lang="en-US" sz="1450" dirty="0">
                <a:solidFill>
                  <a:srgbClr val="49495A"/>
                </a:solidFill>
                <a:latin typeface="Open Sans" pitchFamily="34" charset="0"/>
                <a:ea typeface="Open Sans" pitchFamily="34" charset="-122"/>
                <a:cs typeface="Open Sans" pitchFamily="34" charset="-120"/>
              </a:rPr>
              <a:t>Incluir mecanismos de retroalimentación emocional mediante IA conversacional para continuar con el proyecto.</a:t>
            </a:r>
            <a:endParaRPr lang="en-US" sz="1450" dirty="0"/>
          </a:p>
        </p:txBody>
      </p:sp>
      <p:pic>
        <p:nvPicPr>
          <p:cNvPr id="12" name="Image 0" descr="preencoded.png"/>
          <p:cNvPicPr>
            <a:picLocks noChangeAspect="1"/>
          </p:cNvPicPr>
          <p:nvPr/>
        </p:nvPicPr>
        <p:blipFill>
          <a:blip r:embed="rId3"/>
          <a:stretch>
            <a:fillRect/>
          </a:stretch>
        </p:blipFill>
        <p:spPr>
          <a:xfrm>
            <a:off x="7552015" y="1597581"/>
            <a:ext cx="6428184" cy="64281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9E0954E8-E30A-D782-A6EB-38D96C3ABF0E}"/>
              </a:ext>
            </a:extLst>
          </p:cNvPr>
          <p:cNvSpPr/>
          <p:nvPr/>
        </p:nvSpPr>
        <p:spPr>
          <a:xfrm>
            <a:off x="793790" y="198358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LINK DE ACCESO</a:t>
            </a:r>
            <a:endParaRPr lang="en-US" sz="4450" dirty="0"/>
          </a:p>
        </p:txBody>
      </p:sp>
      <p:sp>
        <p:nvSpPr>
          <p:cNvPr id="5" name="Shape 1">
            <a:extLst>
              <a:ext uri="{FF2B5EF4-FFF2-40B4-BE49-F238E27FC236}">
                <a16:creationId xmlns:a16="http://schemas.microsoft.com/office/drawing/2014/main" id="{1A6E8444-3FE2-607E-3FC1-A3BCFEA93894}"/>
              </a:ext>
            </a:extLst>
          </p:cNvPr>
          <p:cNvSpPr/>
          <p:nvPr/>
        </p:nvSpPr>
        <p:spPr>
          <a:xfrm>
            <a:off x="971290" y="2992653"/>
            <a:ext cx="510302" cy="510302"/>
          </a:xfrm>
          <a:prstGeom prst="roundRect">
            <a:avLst>
              <a:gd name="adj" fmla="val 6667"/>
            </a:avLst>
          </a:prstGeom>
          <a:solidFill>
            <a:srgbClr val="EAE8F3"/>
          </a:solidFill>
          <a:ln/>
        </p:spPr>
      </p:sp>
      <p:sp>
        <p:nvSpPr>
          <p:cNvPr id="7" name="Text 3">
            <a:extLst>
              <a:ext uri="{FF2B5EF4-FFF2-40B4-BE49-F238E27FC236}">
                <a16:creationId xmlns:a16="http://schemas.microsoft.com/office/drawing/2014/main" id="{69E98FEC-0F13-CCCC-7020-FC1C447D8A15}"/>
              </a:ext>
            </a:extLst>
          </p:cNvPr>
          <p:cNvSpPr/>
          <p:nvPr/>
        </p:nvSpPr>
        <p:spPr>
          <a:xfrm>
            <a:off x="1304092" y="3247804"/>
            <a:ext cx="10433206" cy="640129"/>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8" name="Text 2">
            <a:hlinkClick r:id="rId2"/>
            <a:extLst>
              <a:ext uri="{FF2B5EF4-FFF2-40B4-BE49-F238E27FC236}">
                <a16:creationId xmlns:a16="http://schemas.microsoft.com/office/drawing/2014/main" id="{0BA72A97-7063-0DBE-549C-0AA77CF8366E}"/>
              </a:ext>
            </a:extLst>
          </p:cNvPr>
          <p:cNvSpPr/>
          <p:nvPr/>
        </p:nvSpPr>
        <p:spPr>
          <a:xfrm>
            <a:off x="1659092" y="3046809"/>
            <a:ext cx="9065879" cy="708660"/>
          </a:xfrm>
          <a:prstGeom prst="rect">
            <a:avLst/>
          </a:prstGeom>
          <a:noFill/>
          <a:ln/>
        </p:spPr>
        <p:txBody>
          <a:bodyPr wrap="square" lIns="0" tIns="0" rIns="0" bIns="0" rtlCol="0" anchor="t"/>
          <a:lstStyle/>
          <a:p>
            <a:pPr>
              <a:lnSpc>
                <a:spcPts val="2750"/>
              </a:lnSpc>
            </a:pPr>
            <a:r>
              <a:rPr lang="en-US" sz="2200" dirty="0">
                <a:solidFill>
                  <a:srgbClr val="49495A"/>
                </a:solidFill>
                <a:latin typeface="Libre Baskerville" pitchFamily="34" charset="0"/>
                <a:ea typeface="Libre Baskerville" pitchFamily="34" charset="-122"/>
                <a:cs typeface="Libre Baskerville" pitchFamily="34" charset="-120"/>
              </a:rPr>
              <a:t>LINK: TRELLO:</a:t>
            </a:r>
          </a:p>
          <a:p>
            <a:pPr>
              <a:lnSpc>
                <a:spcPts val="2750"/>
              </a:lnSpc>
            </a:pPr>
            <a:r>
              <a:rPr lang="en-US" sz="2200" dirty="0"/>
              <a:t>https://trello.com/b/9SxeMCa5/grupo-no-3-aprendizajepersonalizadoia</a:t>
            </a:r>
          </a:p>
        </p:txBody>
      </p:sp>
      <p:sp>
        <p:nvSpPr>
          <p:cNvPr id="9" name="Shape 1">
            <a:extLst>
              <a:ext uri="{FF2B5EF4-FFF2-40B4-BE49-F238E27FC236}">
                <a16:creationId xmlns:a16="http://schemas.microsoft.com/office/drawing/2014/main" id="{13B0E38B-8163-807F-AF43-1F03EBEAB362}"/>
              </a:ext>
            </a:extLst>
          </p:cNvPr>
          <p:cNvSpPr/>
          <p:nvPr/>
        </p:nvSpPr>
        <p:spPr>
          <a:xfrm>
            <a:off x="1048941" y="5502942"/>
            <a:ext cx="510302" cy="510302"/>
          </a:xfrm>
          <a:prstGeom prst="roundRect">
            <a:avLst>
              <a:gd name="adj" fmla="val 6667"/>
            </a:avLst>
          </a:prstGeom>
          <a:solidFill>
            <a:srgbClr val="EAE8F3"/>
          </a:solidFill>
          <a:ln/>
        </p:spPr>
      </p:sp>
      <p:sp>
        <p:nvSpPr>
          <p:cNvPr id="10" name="Text 2">
            <a:hlinkClick r:id="rId3"/>
            <a:extLst>
              <a:ext uri="{FF2B5EF4-FFF2-40B4-BE49-F238E27FC236}">
                <a16:creationId xmlns:a16="http://schemas.microsoft.com/office/drawing/2014/main" id="{A6AAF1AE-4049-1525-8F57-FE33B222AB78}"/>
              </a:ext>
            </a:extLst>
          </p:cNvPr>
          <p:cNvSpPr/>
          <p:nvPr/>
        </p:nvSpPr>
        <p:spPr>
          <a:xfrm>
            <a:off x="1659092" y="4109918"/>
            <a:ext cx="9065879" cy="708660"/>
          </a:xfrm>
          <a:prstGeom prst="rect">
            <a:avLst/>
          </a:prstGeom>
          <a:noFill/>
          <a:ln/>
        </p:spPr>
        <p:txBody>
          <a:bodyPr wrap="square" lIns="0" tIns="0" rIns="0" bIns="0" rtlCol="0" anchor="t"/>
          <a:lstStyle/>
          <a:p>
            <a:pPr>
              <a:lnSpc>
                <a:spcPts val="2750"/>
              </a:lnSpc>
            </a:pPr>
            <a:r>
              <a:rPr lang="en-US" sz="2200" dirty="0">
                <a:solidFill>
                  <a:srgbClr val="49495A"/>
                </a:solidFill>
                <a:latin typeface="Libre Baskerville" pitchFamily="34" charset="0"/>
                <a:ea typeface="Libre Baskerville" pitchFamily="34" charset="-122"/>
                <a:cs typeface="Libre Baskerville" pitchFamily="34" charset="-120"/>
              </a:rPr>
              <a:t>LINK: GOOGLE COLAB</a:t>
            </a:r>
          </a:p>
          <a:p>
            <a:pPr>
              <a:lnSpc>
                <a:spcPts val="2750"/>
              </a:lnSpc>
            </a:pPr>
            <a:r>
              <a:rPr lang="en-US" sz="2200" dirty="0"/>
              <a:t>https://colab.research.google.com/drive/1QkFOsIv5vLHk6rEaHOFYRQ8lUcvB1Zzd?usp=sharing</a:t>
            </a:r>
          </a:p>
        </p:txBody>
      </p:sp>
      <p:sp>
        <p:nvSpPr>
          <p:cNvPr id="11" name="Shape 1">
            <a:extLst>
              <a:ext uri="{FF2B5EF4-FFF2-40B4-BE49-F238E27FC236}">
                <a16:creationId xmlns:a16="http://schemas.microsoft.com/office/drawing/2014/main" id="{743C432A-A902-7438-F6E5-6A7A23975F99}"/>
              </a:ext>
            </a:extLst>
          </p:cNvPr>
          <p:cNvSpPr/>
          <p:nvPr/>
        </p:nvSpPr>
        <p:spPr>
          <a:xfrm>
            <a:off x="999895" y="4208162"/>
            <a:ext cx="510302" cy="510302"/>
          </a:xfrm>
          <a:prstGeom prst="roundRect">
            <a:avLst>
              <a:gd name="adj" fmla="val 6667"/>
            </a:avLst>
          </a:prstGeom>
          <a:solidFill>
            <a:srgbClr val="EAE8F3"/>
          </a:solidFill>
          <a:ln/>
        </p:spPr>
      </p:sp>
      <p:sp>
        <p:nvSpPr>
          <p:cNvPr id="12" name="Text 2">
            <a:hlinkClick r:id="rId3"/>
            <a:extLst>
              <a:ext uri="{FF2B5EF4-FFF2-40B4-BE49-F238E27FC236}">
                <a16:creationId xmlns:a16="http://schemas.microsoft.com/office/drawing/2014/main" id="{83992EEE-3497-F332-AB3E-4ECD0A2EA319}"/>
              </a:ext>
            </a:extLst>
          </p:cNvPr>
          <p:cNvSpPr/>
          <p:nvPr/>
        </p:nvSpPr>
        <p:spPr>
          <a:xfrm>
            <a:off x="1659092" y="5621100"/>
            <a:ext cx="9065879" cy="708660"/>
          </a:xfrm>
          <a:prstGeom prst="rect">
            <a:avLst/>
          </a:prstGeom>
          <a:noFill/>
          <a:ln/>
        </p:spPr>
        <p:txBody>
          <a:bodyPr wrap="square" lIns="0" tIns="0" rIns="0" bIns="0" rtlCol="0" anchor="t"/>
          <a:lstStyle/>
          <a:p>
            <a:pPr>
              <a:lnSpc>
                <a:spcPts val="2750"/>
              </a:lnSpc>
            </a:pPr>
            <a:r>
              <a:rPr lang="en-US" sz="2200" dirty="0">
                <a:solidFill>
                  <a:srgbClr val="49495A"/>
                </a:solidFill>
                <a:latin typeface="Libre Baskerville" pitchFamily="34" charset="0"/>
                <a:ea typeface="Libre Baskerville" pitchFamily="34" charset="-122"/>
                <a:cs typeface="Libre Baskerville" pitchFamily="34" charset="-120"/>
              </a:rPr>
              <a:t>LINK: </a:t>
            </a:r>
            <a:r>
              <a:rPr lang="en-US" sz="2400" dirty="0"/>
              <a:t>GITHUB</a:t>
            </a:r>
            <a:r>
              <a:rPr lang="en-US" sz="2200" dirty="0"/>
              <a:t> </a:t>
            </a:r>
          </a:p>
          <a:p>
            <a:pPr>
              <a:lnSpc>
                <a:spcPts val="2750"/>
              </a:lnSpc>
            </a:pPr>
            <a:r>
              <a:rPr lang="en-US" sz="2200" dirty="0"/>
              <a:t>https://github.com/UNAH-MGI/mgi-201-2025-proyectos</a:t>
            </a:r>
          </a:p>
        </p:txBody>
      </p:sp>
    </p:spTree>
    <p:extLst>
      <p:ext uri="{BB962C8B-B14F-4D97-AF65-F5344CB8AC3E}">
        <p14:creationId xmlns:p14="http://schemas.microsoft.com/office/powerpoint/2010/main" val="1792567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1114</Words>
  <Application>Microsoft Office PowerPoint</Application>
  <PresentationFormat>Personalizado</PresentationFormat>
  <Paragraphs>151</Paragraphs>
  <Slides>16</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Libre Baskerville</vt:lpstr>
      <vt:lpstr>Arial</vt:lpstr>
      <vt:lpstr>Open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RELAX</dc:creator>
  <cp:lastModifiedBy>WENDY CAROLINA MARTINEZ HERNANDEZ</cp:lastModifiedBy>
  <cp:revision>3</cp:revision>
  <dcterms:created xsi:type="dcterms:W3CDTF">2025-07-12T05:55:58Z</dcterms:created>
  <dcterms:modified xsi:type="dcterms:W3CDTF">2025-07-12T17:55:02Z</dcterms:modified>
</cp:coreProperties>
</file>